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ExtraBold" panose="020B0604020202020204" charset="0"/>
      <p:bold r:id="rId17"/>
      <p:boldItalic r:id="rId18"/>
    </p:embeddedFont>
    <p:embeddedFont>
      <p:font typeface="Inter Light" panose="020B0604020202020204" charset="0"/>
      <p:regular r:id="rId19"/>
      <p:bold r:id="rId20"/>
      <p:italic r:id="rId21"/>
      <p:boldItalic r:id="rId22"/>
    </p:embeddedFont>
    <p:embeddedFont>
      <p:font typeface="Inter Medium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D04820-811C-4A7A-9A58-51759F0462E8}">
  <a:tblStyle styleId="{30D04820-811C-4A7A-9A58-51759F0462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d1fd81e39d3a469_2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6d1fd81e39d3a469_2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6d1fd81e39d3a469_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6d1fd81e39d3a469_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6d1fd81e39d3a469_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6d1fd81e39d3a469_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6d1fd81e39d3a469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6d1fd81e39d3a469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6d1fd81e39d3a469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6d1fd81e39d3a469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6d1fd81e39d3a469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6d1fd81e39d3a469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6d1fd81e39d3a469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h6d1fd81e39d3a469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6d1fd81e39d3a46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6d1fd81e39d3a46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6d1fd81e39d3a46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h6d1fd81e39d3a46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6d1fd81e39d3a46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h6d1fd81e39d3a46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6d1fd81e39d3a469_13_0)">
  <p:cSld name="Generated (h6d1fd81e39d3a469_13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7239000" y="32385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F4F7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001000" y="40005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E2E8F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oogle Shape;57;p14"/>
          <p:cNvGrpSpPr/>
          <p:nvPr/>
        </p:nvGrpSpPr>
        <p:grpSpPr>
          <a:xfrm>
            <a:off x="381000" y="381000"/>
            <a:ext cx="1733700" cy="247650"/>
            <a:chOff x="0" y="0"/>
            <a:chExt cx="1733700" cy="247650"/>
          </a:xfrm>
        </p:grpSpPr>
        <p:sp>
          <p:nvSpPr>
            <p:cNvPr id="58" name="Google Shape;58;p14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name="adj" fmla="val 16666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57150" y="57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LAUKI </a:t>
              </a:r>
              <a:r>
                <a:rPr lang="en" sz="14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FINANCE</a:t>
              </a:r>
              <a:endParaRPr sz="1400" b="0">
                <a:solidFill>
                  <a:srgbClr val="0F3D70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61" name="Google Shape;61;p14"/>
          <p:cNvSpPr/>
          <p:nvPr/>
        </p:nvSpPr>
        <p:spPr>
          <a:xfrm>
            <a:off x="381000" y="16192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381000" y="1847850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Lauki Finance: Credit Risk Predictive Modeling &amp; Performance Insights</a:t>
            </a:r>
            <a:endParaRPr sz="280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81000" y="2800350"/>
            <a:ext cx="7143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 b="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Presenting an overview of dataset structure, model evaluation, and strategic recommendations.</a:t>
            </a:r>
            <a:endParaRPr sz="1600" b="0">
              <a:solidFill>
                <a:srgbClr val="4B556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81000" y="0"/>
            <a:ext cx="1143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15"/>
          <p:cNvGrpSpPr/>
          <p:nvPr/>
        </p:nvGrpSpPr>
        <p:grpSpPr>
          <a:xfrm>
            <a:off x="7143750" y="285750"/>
            <a:ext cx="1733700" cy="247650"/>
            <a:chOff x="0" y="0"/>
            <a:chExt cx="1733700" cy="247650"/>
          </a:xfrm>
        </p:grpSpPr>
        <p:sp>
          <p:nvSpPr>
            <p:cNvPr id="72" name="Google Shape;72;p15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name="adj" fmla="val 16666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7150" y="57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LAUKI </a:t>
              </a:r>
              <a:r>
                <a:rPr lang="en" sz="14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FINANCE</a:t>
              </a:r>
              <a:endParaRPr sz="1400" b="0">
                <a:solidFill>
                  <a:srgbClr val="0F3D70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75" name="Google Shape;75;p15"/>
          <p:cNvSpPr txBox="1"/>
          <p:nvPr/>
        </p:nvSpPr>
        <p:spPr>
          <a:xfrm>
            <a:off x="381000" y="304800"/>
            <a:ext cx="647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Project Objective &amp; Success Criteria</a:t>
            </a:r>
            <a:endParaRPr sz="240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6" name="Google Shape;76;p15"/>
          <p:cNvGrpSpPr/>
          <p:nvPr/>
        </p:nvGrpSpPr>
        <p:grpSpPr>
          <a:xfrm>
            <a:off x="381000" y="952500"/>
            <a:ext cx="3905400" cy="3714900"/>
            <a:chOff x="0" y="0"/>
            <a:chExt cx="3905400" cy="37149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3905400" cy="3714900"/>
            </a:xfrm>
            <a:prstGeom prst="roundRect">
              <a:avLst>
                <a:gd name="adj" fmla="val 2051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name="adj" fmla="val 50000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285750" y="285750"/>
              <a:ext cx="3333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Objective</a:t>
              </a:r>
              <a:endParaRPr sz="9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800" b="0">
                  <a:solidFill>
                    <a:srgbClr val="0F3D7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Credit Risk Predictive Model</a:t>
              </a:r>
              <a:endParaRPr sz="1800" b="0">
                <a:solidFill>
                  <a:srgbClr val="0F3D7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Build a robust predictive model for the risk assessment unit to measure and evaluate credit risk accurately.</a:t>
              </a:r>
              <a:endParaRPr sz="1200" b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highlight>
                    <a:srgbClr val="FFFFFF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Strategic Impact</a:t>
              </a:r>
              <a:endParaRPr sz="900" b="0">
                <a:solidFill>
                  <a:srgbClr val="4B5563"/>
                </a:solidFill>
                <a:highlight>
                  <a:srgbClr val="FFFFFF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0F3D70"/>
                  </a:solidFill>
                  <a:highlight>
                    <a:srgbClr val="FFFFFF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Empowers the risk unit with data-driven precision to optimize credit decisions and minimize default exposure.</a:t>
              </a:r>
              <a:endParaRPr sz="1000" b="0">
                <a:solidFill>
                  <a:srgbClr val="0F3D70"/>
                </a:solidFill>
                <a:highlight>
                  <a:srgbClr val="FFFFFF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4572000" y="952500"/>
            <a:ext cx="4191000" cy="3571800"/>
            <a:chOff x="0" y="0"/>
            <a:chExt cx="4191000" cy="3571800"/>
          </a:xfrm>
        </p:grpSpPr>
        <p:sp>
          <p:nvSpPr>
            <p:cNvPr id="81" name="Google Shape;81;p15"/>
            <p:cNvSpPr txBox="1"/>
            <p:nvPr/>
          </p:nvSpPr>
          <p:spPr>
            <a:xfrm>
              <a:off x="0" y="0"/>
              <a:ext cx="41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Target Performance Metrics</a:t>
              </a:r>
              <a:endParaRPr sz="9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82" name="Google Shape;82;p15"/>
            <p:cNvGrpSpPr/>
            <p:nvPr/>
          </p:nvGrpSpPr>
          <p:grpSpPr>
            <a:xfrm>
              <a:off x="0" y="285750"/>
              <a:ext cx="4191000" cy="952500"/>
              <a:chOff x="0" y="0"/>
              <a:chExt cx="4191000" cy="952500"/>
            </a:xfrm>
          </p:grpSpPr>
          <p:sp>
            <p:nvSpPr>
              <p:cNvPr id="83" name="Google Shape;83;p15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0" y="0"/>
                <a:ext cx="38100" cy="952500"/>
              </a:xfrm>
              <a:prstGeom prst="roundRect">
                <a:avLst>
                  <a:gd name="adj" fmla="val 25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 txBox="1"/>
              <p:nvPr/>
            </p:nvSpPr>
            <p:spPr>
              <a:xfrm>
                <a:off x="190500" y="152400"/>
                <a:ext cx="38100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8" b="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Discrimination Power</a:t>
                </a:r>
                <a:endParaRPr sz="698" b="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2170" b="0">
                    <a:solidFill>
                      <a:srgbClr val="2563E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&gt; 85%</a:t>
                </a:r>
                <a:endParaRPr sz="2170" b="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75" b="0">
                    <a:solidFill>
                      <a:srgbClr val="0F3D7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Area Under the Curve (AUC) and Gini Coefficient</a:t>
                </a:r>
                <a:endParaRPr sz="775" b="0">
                  <a:solidFill>
                    <a:srgbClr val="0F3D7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86" name="Google Shape;86;p15"/>
            <p:cNvGrpSpPr/>
            <p:nvPr/>
          </p:nvGrpSpPr>
          <p:grpSpPr>
            <a:xfrm>
              <a:off x="0" y="1381125"/>
              <a:ext cx="4191000" cy="952500"/>
              <a:chOff x="0" y="0"/>
              <a:chExt cx="4191000" cy="952500"/>
            </a:xfrm>
          </p:grpSpPr>
          <p:sp>
            <p:nvSpPr>
              <p:cNvPr id="87" name="Google Shape;87;p15"/>
              <p:cNvSpPr/>
              <p:nvPr/>
            </p:nvSpPr>
            <p:spPr>
              <a:xfrm>
                <a:off x="0" y="0"/>
                <a:ext cx="41910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" cy="952500"/>
              </a:xfrm>
              <a:prstGeom prst="roundRect">
                <a:avLst>
                  <a:gd name="adj" fmla="val 25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190500" y="152400"/>
                <a:ext cx="38100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8" b="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Separation Capacity</a:t>
                </a:r>
                <a:endParaRPr sz="698" b="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2170" b="0">
                    <a:solidFill>
                      <a:srgbClr val="2563E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&gt; 40%</a:t>
                </a:r>
                <a:endParaRPr sz="2170" b="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75" b="0">
                    <a:solidFill>
                      <a:srgbClr val="0F3D7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Kolmogorov-Smirnov (KS) Statistic</a:t>
                </a:r>
                <a:endParaRPr sz="775" b="0">
                  <a:solidFill>
                    <a:srgbClr val="0F3D7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38100" y="2476500"/>
              <a:ext cx="4152900" cy="1095300"/>
              <a:chOff x="38100" y="0"/>
              <a:chExt cx="4152900" cy="10953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38100" y="57150"/>
                <a:ext cx="57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2563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228600" y="0"/>
                <a:ext cx="3962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>
                    <a:solidFill>
                      <a:srgbClr val="0F3D7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Early Decile Risk Capture</a:t>
                </a:r>
                <a:endParaRPr sz="1100" b="0">
                  <a:solidFill>
                    <a:srgbClr val="0F3D7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Maximum KS Statistic must occur within the first 3 deciles to prove strong discriminative power for high-risk applicants.</a:t>
                </a:r>
                <a:endParaRPr sz="10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38100" y="628650"/>
                <a:ext cx="57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2563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 txBox="1"/>
              <p:nvPr/>
            </p:nvSpPr>
            <p:spPr>
              <a:xfrm>
                <a:off x="228600" y="571500"/>
                <a:ext cx="3962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>
                    <a:solidFill>
                      <a:srgbClr val="0F3D7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Business Explainability</a:t>
                </a:r>
                <a:endParaRPr sz="1100" b="0">
                  <a:solidFill>
                    <a:srgbClr val="0F3D7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High model interpretability to extract business rules.</a:t>
                </a:r>
                <a:endParaRPr sz="10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6"/>
          <p:cNvGrpSpPr/>
          <p:nvPr/>
        </p:nvGrpSpPr>
        <p:grpSpPr>
          <a:xfrm>
            <a:off x="381000" y="0"/>
            <a:ext cx="8782200" cy="533400"/>
            <a:chOff x="381000" y="0"/>
            <a:chExt cx="8782200" cy="533400"/>
          </a:xfrm>
        </p:grpSpPr>
        <p:sp>
          <p:nvSpPr>
            <p:cNvPr id="100" name="Google Shape;100;p16"/>
            <p:cNvSpPr/>
            <p:nvPr/>
          </p:nvSpPr>
          <p:spPr>
            <a:xfrm>
              <a:off x="381000" y="0"/>
              <a:ext cx="1143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" name="Google Shape;101;p16"/>
            <p:cNvGrpSpPr/>
            <p:nvPr/>
          </p:nvGrpSpPr>
          <p:grpSpPr>
            <a:xfrm>
              <a:off x="7429500" y="285750"/>
              <a:ext cx="1733700" cy="247650"/>
              <a:chOff x="0" y="0"/>
              <a:chExt cx="1733700" cy="247650"/>
            </a:xfrm>
          </p:grpSpPr>
          <p:sp>
            <p:nvSpPr>
              <p:cNvPr id="102" name="Google Shape;102;p16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F3D7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57150" y="57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6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>
                    <a:solidFill>
                      <a:srgbClr val="0F3D70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LAUKI </a:t>
                </a:r>
                <a:r>
                  <a:rPr lang="en" sz="1400" b="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FINANCE</a:t>
                </a:r>
                <a:endParaRPr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  <p:sp>
        <p:nvSpPr>
          <p:cNvPr id="105" name="Google Shape;105;p16"/>
          <p:cNvSpPr txBox="1"/>
          <p:nvPr/>
        </p:nvSpPr>
        <p:spPr>
          <a:xfrm>
            <a:off x="381000" y="33337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Train and Test Dataset Structure</a:t>
            </a:r>
            <a:endParaRPr sz="260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6" name="Google Shape;106;p16"/>
          <p:cNvGrpSpPr/>
          <p:nvPr/>
        </p:nvGrpSpPr>
        <p:grpSpPr>
          <a:xfrm>
            <a:off x="381000" y="952500"/>
            <a:ext cx="8382000" cy="571500"/>
            <a:chOff x="0" y="0"/>
            <a:chExt cx="8382000" cy="571500"/>
          </a:xfrm>
        </p:grpSpPr>
        <p:sp>
          <p:nvSpPr>
            <p:cNvPr id="107" name="Google Shape;107;p16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name="adj" fmla="val 10000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0" y="0"/>
              <a:ext cx="57300" cy="571500"/>
            </a:xfrm>
            <a:prstGeom prst="roundRect">
              <a:avLst>
                <a:gd name="adj" fmla="val 33333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228600" y="95250"/>
              <a:ext cx="7924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Source</a:t>
              </a:r>
              <a:endParaRPr sz="9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" sz="1200" b="0">
                  <a:solidFill>
                    <a:srgbClr val="0F3D7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Historical loan data spanning the past two years from Lauki Finance</a:t>
              </a:r>
              <a:endParaRPr sz="1200" b="0">
                <a:solidFill>
                  <a:srgbClr val="0F3D7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10" name="Google Shape;110;p16"/>
          <p:cNvSpPr txBox="1"/>
          <p:nvPr/>
        </p:nvSpPr>
        <p:spPr>
          <a:xfrm>
            <a:off x="381000" y="176212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000" b="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Timeline Split (Out-of-Time Testing)</a:t>
            </a:r>
            <a:endParaRPr sz="1000" b="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11" name="Google Shape;111;p16"/>
          <p:cNvGrpSpPr/>
          <p:nvPr/>
        </p:nvGrpSpPr>
        <p:grpSpPr>
          <a:xfrm>
            <a:off x="381000" y="2028825"/>
            <a:ext cx="8382000" cy="152400"/>
            <a:chOff x="0" y="-19050"/>
            <a:chExt cx="8382000" cy="152400"/>
          </a:xfrm>
        </p:grpSpPr>
        <p:sp>
          <p:nvSpPr>
            <p:cNvPr id="112" name="Google Shape;112;p16"/>
            <p:cNvSpPr/>
            <p:nvPr/>
          </p:nvSpPr>
          <p:spPr>
            <a:xfrm>
              <a:off x="0" y="0"/>
              <a:ext cx="5867400" cy="114300"/>
            </a:xfrm>
            <a:prstGeom prst="roundRect">
              <a:avLst>
                <a:gd name="adj" fmla="val 16666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5886450" y="-19050"/>
              <a:ext cx="381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943600" y="0"/>
              <a:ext cx="2438400" cy="114300"/>
            </a:xfrm>
            <a:prstGeom prst="roundRect">
              <a:avLst>
                <a:gd name="adj" fmla="val 16666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6"/>
          <p:cNvGrpSpPr/>
          <p:nvPr/>
        </p:nvGrpSpPr>
        <p:grpSpPr>
          <a:xfrm>
            <a:off x="381000" y="2333625"/>
            <a:ext cx="5715000" cy="2190900"/>
            <a:chOff x="0" y="0"/>
            <a:chExt cx="5715000" cy="2190900"/>
          </a:xfrm>
        </p:grpSpPr>
        <p:sp>
          <p:nvSpPr>
            <p:cNvPr id="116" name="Google Shape;116;p16"/>
            <p:cNvSpPr/>
            <p:nvPr/>
          </p:nvSpPr>
          <p:spPr>
            <a:xfrm>
              <a:off x="0" y="0"/>
              <a:ext cx="5715000" cy="2190900"/>
            </a:xfrm>
            <a:prstGeom prst="roundRect">
              <a:avLst>
                <a:gd name="adj" fmla="val 3478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0" y="0"/>
              <a:ext cx="57150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228600" y="190500"/>
              <a:ext cx="52578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Training &amp; Validation Set</a:t>
              </a:r>
              <a:endParaRPr sz="9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Feb 2022 – Feb 2024</a:t>
              </a:r>
              <a:endParaRPr sz="16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Data used for building and tuning the model over a 2-year historical window.</a:t>
              </a:r>
              <a:endParaRPr sz="1200" b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9" name="Google Shape;119;p16"/>
          <p:cNvSpPr/>
          <p:nvPr/>
        </p:nvSpPr>
        <p:spPr>
          <a:xfrm>
            <a:off x="6143625" y="3248025"/>
            <a:ext cx="954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20000" y="60000"/>
                </a:lnTo>
                <a:moveTo>
                  <a:pt x="72000" y="0"/>
                </a:moveTo>
                <a:lnTo>
                  <a:pt x="120000" y="60000"/>
                </a:lnTo>
                <a:lnTo>
                  <a:pt x="72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19050" cap="rnd" cmpd="sng">
            <a:solidFill>
              <a:srgbClr val="4B55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" name="Google Shape;120;p16"/>
          <p:cNvGrpSpPr/>
          <p:nvPr/>
        </p:nvGrpSpPr>
        <p:grpSpPr>
          <a:xfrm>
            <a:off x="6324600" y="2333625"/>
            <a:ext cx="2438400" cy="2190900"/>
            <a:chOff x="0" y="0"/>
            <a:chExt cx="2438400" cy="21909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2438400" cy="2190900"/>
            </a:xfrm>
            <a:prstGeom prst="roundRect">
              <a:avLst>
                <a:gd name="adj" fmla="val 3478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0"/>
              <a:ext cx="24384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90500" y="190500"/>
              <a:ext cx="2057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3C5F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Out-of-Time (OOT) Test</a:t>
              </a:r>
              <a:endParaRPr sz="900" b="0">
                <a:solidFill>
                  <a:srgbClr val="93C5F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Mar 2024 – May 2024</a:t>
              </a:r>
              <a:endParaRPr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Out-of-Time test data used to evaluate real-world generalization on unseen future periods.</a:t>
              </a:r>
              <a:endParaRPr sz="1100" b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381000" y="0"/>
              <a:ext cx="1143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" name="Google Shape;131;p17"/>
            <p:cNvGrpSpPr/>
            <p:nvPr/>
          </p:nvGrpSpPr>
          <p:grpSpPr>
            <a:xfrm>
              <a:off x="7143750" y="285750"/>
              <a:ext cx="1733700" cy="247650"/>
              <a:chOff x="0" y="0"/>
              <a:chExt cx="1733700" cy="247650"/>
            </a:xfrm>
          </p:grpSpPr>
          <p:sp>
            <p:nvSpPr>
              <p:cNvPr id="132" name="Google Shape;132;p17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F3D7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7"/>
              <p:cNvSpPr/>
              <p:nvPr/>
            </p:nvSpPr>
            <p:spPr>
              <a:xfrm>
                <a:off x="57150" y="57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7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>
                    <a:solidFill>
                      <a:srgbClr val="0F3D70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LAUKI </a:t>
                </a:r>
                <a:r>
                  <a:rPr lang="en" sz="1400" b="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FINANCE</a:t>
                </a:r>
                <a:endParaRPr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  <p:sp>
        <p:nvSpPr>
          <p:cNvPr id="135" name="Google Shape;135;p17"/>
          <p:cNvSpPr txBox="1"/>
          <p:nvPr/>
        </p:nvSpPr>
        <p:spPr>
          <a:xfrm>
            <a:off x="381000" y="285750"/>
            <a:ext cx="6477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Feature Overview</a:t>
            </a:r>
            <a:endParaRPr sz="260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381000" y="952500"/>
            <a:ext cx="8382075" cy="3810000"/>
            <a:chOff x="381000" y="952500"/>
            <a:chExt cx="8382075" cy="3810000"/>
          </a:xfrm>
        </p:grpSpPr>
        <p:grpSp>
          <p:nvGrpSpPr>
            <p:cNvPr id="137" name="Google Shape;137;p17"/>
            <p:cNvGrpSpPr/>
            <p:nvPr/>
          </p:nvGrpSpPr>
          <p:grpSpPr>
            <a:xfrm>
              <a:off x="381000" y="952500"/>
              <a:ext cx="4048200" cy="3810000"/>
              <a:chOff x="0" y="0"/>
              <a:chExt cx="4048200" cy="3810000"/>
            </a:xfrm>
          </p:grpSpPr>
          <p:sp>
            <p:nvSpPr>
              <p:cNvPr id="138" name="Google Shape;138;p17"/>
              <p:cNvSpPr/>
              <p:nvPr/>
            </p:nvSpPr>
            <p:spPr>
              <a:xfrm>
                <a:off x="0" y="0"/>
                <a:ext cx="4048200" cy="3810000"/>
              </a:xfrm>
              <a:prstGeom prst="roundRect">
                <a:avLst>
                  <a:gd name="adj" fmla="val 2000"/>
                </a:avLst>
              </a:prstGeom>
              <a:solidFill>
                <a:srgbClr val="F4F7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7"/>
              <p:cNvSpPr/>
              <p:nvPr/>
            </p:nvSpPr>
            <p:spPr>
              <a:xfrm>
                <a:off x="0" y="0"/>
                <a:ext cx="40482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F3D7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7"/>
              <p:cNvSpPr txBox="1"/>
              <p:nvPr/>
            </p:nvSpPr>
            <p:spPr>
              <a:xfrm>
                <a:off x="228600" y="190500"/>
                <a:ext cx="3591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SEGMENT 01</a:t>
                </a:r>
                <a:endParaRPr sz="9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600"/>
                  </a:spcAft>
                  <a:buNone/>
                </a:pPr>
                <a:r>
                  <a:rPr lang="en" sz="1600" b="0">
                    <a:solidFill>
                      <a:srgbClr val="0F3D7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Customer Demographics</a:t>
                </a:r>
                <a:endParaRPr sz="1600" b="0">
                  <a:solidFill>
                    <a:srgbClr val="0F3D70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grpSp>
            <p:nvGrpSpPr>
              <p:cNvPr id="141" name="Google Shape;141;p17"/>
              <p:cNvGrpSpPr/>
              <p:nvPr/>
            </p:nvGrpSpPr>
            <p:grpSpPr>
              <a:xfrm>
                <a:off x="228600" y="714375"/>
                <a:ext cx="3591000" cy="2476650"/>
                <a:chOff x="0" y="0"/>
                <a:chExt cx="3591000" cy="2476650"/>
              </a:xfrm>
            </p:grpSpPr>
            <p:grpSp>
              <p:nvGrpSpPr>
                <p:cNvPr id="142" name="Google Shape;142;p17"/>
                <p:cNvGrpSpPr/>
                <p:nvPr/>
              </p:nvGrpSpPr>
              <p:grpSpPr>
                <a:xfrm>
                  <a:off x="0" y="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43" name="Google Shape;143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" name="Google Shape;144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cust_id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45" name="Google Shape;145;p17"/>
                <p:cNvGrpSpPr/>
                <p:nvPr/>
              </p:nvGrpSpPr>
              <p:grpSpPr>
                <a:xfrm>
                  <a:off x="0" y="28575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46" name="Google Shape;146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" name="Google Shape;147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age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48" name="Google Shape;148;p17"/>
                <p:cNvGrpSpPr/>
                <p:nvPr/>
              </p:nvGrpSpPr>
              <p:grpSpPr>
                <a:xfrm>
                  <a:off x="0" y="57150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49" name="Google Shape;149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" name="Google Shape;150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gender</a:t>
                    </a:r>
                    <a:r>
                      <a:rPr lang="en" sz="1200" b="0">
                        <a:solidFill>
                          <a:srgbClr val="111827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&amp; </a:t>
                    </a: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marital_status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51" name="Google Shape;151;p17"/>
                <p:cNvGrpSpPr/>
                <p:nvPr/>
              </p:nvGrpSpPr>
              <p:grpSpPr>
                <a:xfrm>
                  <a:off x="0" y="85725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52" name="Google Shape;152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employment_status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54" name="Google Shape;154;p17"/>
                <p:cNvGrpSpPr/>
                <p:nvPr/>
              </p:nvGrpSpPr>
              <p:grpSpPr>
                <a:xfrm>
                  <a:off x="0" y="114300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55" name="Google Shape;155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income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57" name="Google Shape;157;p17"/>
                <p:cNvGrpSpPr/>
                <p:nvPr/>
              </p:nvGrpSpPr>
              <p:grpSpPr>
                <a:xfrm>
                  <a:off x="0" y="142875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58" name="Google Shape;158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number_of_dependants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60" name="Google Shape;160;p17"/>
                <p:cNvGrpSpPr/>
                <p:nvPr/>
              </p:nvGrpSpPr>
              <p:grpSpPr>
                <a:xfrm>
                  <a:off x="0" y="1714500"/>
                  <a:ext cx="3591000" cy="457200"/>
                  <a:chOff x="0" y="0"/>
                  <a:chExt cx="3591000" cy="457200"/>
                </a:xfrm>
              </p:grpSpPr>
              <p:sp>
                <p:nvSpPr>
                  <p:cNvPr id="161" name="Google Shape;161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17"/>
                  <p:cNvSpPr txBox="1"/>
                  <p:nvPr/>
                </p:nvSpPr>
                <p:spPr>
                  <a:xfrm>
                    <a:off x="152400" y="0"/>
                    <a:ext cx="34386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11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residence_type</a:t>
                    </a:r>
                    <a:r>
                      <a:rPr lang="en" sz="1110" b="0">
                        <a:solidFill>
                          <a:srgbClr val="111827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&amp;</a:t>
                    </a:r>
                    <a:endParaRPr sz="111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  <a:p>
                    <a:pPr marL="0" lvl="0" indent="0" algn="l" rtl="0">
                      <a:spcBef>
                        <a:spcPts val="90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11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years_at_current_address</a:t>
                    </a:r>
                    <a:endParaRPr sz="111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63" name="Google Shape;163;p17"/>
                <p:cNvGrpSpPr/>
                <p:nvPr/>
              </p:nvGrpSpPr>
              <p:grpSpPr>
                <a:xfrm>
                  <a:off x="0" y="222885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64" name="Google Shape;164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city</a:t>
                    </a:r>
                    <a:r>
                      <a:rPr lang="en" sz="1200" b="0">
                        <a:solidFill>
                          <a:srgbClr val="111827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, </a:t>
                    </a: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state</a:t>
                    </a:r>
                    <a:r>
                      <a:rPr lang="en" sz="1200" b="0">
                        <a:solidFill>
                          <a:srgbClr val="111827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, </a:t>
                    </a: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zipcode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</p:grpSp>
        </p:grpSp>
        <p:grpSp>
          <p:nvGrpSpPr>
            <p:cNvPr id="166" name="Google Shape;166;p17"/>
            <p:cNvGrpSpPr/>
            <p:nvPr/>
          </p:nvGrpSpPr>
          <p:grpSpPr>
            <a:xfrm>
              <a:off x="4714875" y="952500"/>
              <a:ext cx="4048200" cy="3810000"/>
              <a:chOff x="0" y="0"/>
              <a:chExt cx="4048200" cy="3810000"/>
            </a:xfrm>
          </p:grpSpPr>
          <p:sp>
            <p:nvSpPr>
              <p:cNvPr id="167" name="Google Shape;167;p17"/>
              <p:cNvSpPr/>
              <p:nvPr/>
            </p:nvSpPr>
            <p:spPr>
              <a:xfrm>
                <a:off x="0" y="0"/>
                <a:ext cx="4048200" cy="3810000"/>
              </a:xfrm>
              <a:prstGeom prst="roundRect">
                <a:avLst>
                  <a:gd name="adj" fmla="val 2000"/>
                </a:avLst>
              </a:prstGeom>
              <a:solidFill>
                <a:srgbClr val="F4F7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>
                <a:off x="0" y="0"/>
                <a:ext cx="40482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228600" y="190500"/>
                <a:ext cx="3591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SEGMENT 02</a:t>
                </a:r>
                <a:endParaRPr sz="9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600"/>
                  </a:spcAft>
                  <a:buNone/>
                </a:pPr>
                <a:r>
                  <a:rPr lang="en" sz="1600" b="0">
                    <a:solidFill>
                      <a:srgbClr val="0F3D7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Bureau Data</a:t>
                </a:r>
                <a:endParaRPr sz="1600" b="0">
                  <a:solidFill>
                    <a:srgbClr val="0F3D70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grpSp>
            <p:nvGrpSpPr>
              <p:cNvPr id="170" name="Google Shape;170;p17"/>
              <p:cNvGrpSpPr/>
              <p:nvPr/>
            </p:nvGrpSpPr>
            <p:grpSpPr>
              <a:xfrm>
                <a:off x="228600" y="714375"/>
                <a:ext cx="3591000" cy="2190900"/>
                <a:chOff x="0" y="0"/>
                <a:chExt cx="3591000" cy="2190900"/>
              </a:xfrm>
            </p:grpSpPr>
            <p:grpSp>
              <p:nvGrpSpPr>
                <p:cNvPr id="171" name="Google Shape;171;p17"/>
                <p:cNvGrpSpPr/>
                <p:nvPr/>
              </p:nvGrpSpPr>
              <p:grpSpPr>
                <a:xfrm>
                  <a:off x="0" y="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72" name="Google Shape;172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cust_id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74" name="Google Shape;174;p17"/>
                <p:cNvGrpSpPr/>
                <p:nvPr/>
              </p:nvGrpSpPr>
              <p:grpSpPr>
                <a:xfrm>
                  <a:off x="0" y="304800"/>
                  <a:ext cx="3591000" cy="457200"/>
                  <a:chOff x="0" y="0"/>
                  <a:chExt cx="3591000" cy="457200"/>
                </a:xfrm>
              </p:grpSpPr>
              <p:sp>
                <p:nvSpPr>
                  <p:cNvPr id="175" name="Google Shape;175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" name="Google Shape;176;p17"/>
                  <p:cNvSpPr txBox="1"/>
                  <p:nvPr/>
                </p:nvSpPr>
                <p:spPr>
                  <a:xfrm>
                    <a:off x="152400" y="0"/>
                    <a:ext cx="34386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11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no_of_open_accounts</a:t>
                    </a:r>
                    <a:r>
                      <a:rPr lang="en" sz="1110" b="0">
                        <a:solidFill>
                          <a:srgbClr val="111827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&amp;</a:t>
                    </a:r>
                    <a:endParaRPr sz="111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  <a:p>
                    <a:pPr marL="0" lvl="0" indent="0" algn="l" rtl="0">
                      <a:spcBef>
                        <a:spcPts val="90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11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no_of_closed_accounts</a:t>
                    </a:r>
                    <a:endParaRPr sz="111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77" name="Google Shape;177;p17"/>
                <p:cNvGrpSpPr/>
                <p:nvPr/>
              </p:nvGrpSpPr>
              <p:grpSpPr>
                <a:xfrm>
                  <a:off x="0" y="819150"/>
                  <a:ext cx="3591000" cy="457200"/>
                  <a:chOff x="0" y="0"/>
                  <a:chExt cx="3591000" cy="457200"/>
                </a:xfrm>
              </p:grpSpPr>
              <p:sp>
                <p:nvSpPr>
                  <p:cNvPr id="178" name="Google Shape;178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" name="Google Shape;179;p17"/>
                  <p:cNvSpPr txBox="1"/>
                  <p:nvPr/>
                </p:nvSpPr>
                <p:spPr>
                  <a:xfrm>
                    <a:off x="152400" y="0"/>
                    <a:ext cx="34386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11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total_loan_months</a:t>
                    </a:r>
                    <a:r>
                      <a:rPr lang="en" sz="1110" b="0">
                        <a:solidFill>
                          <a:srgbClr val="111827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&amp;</a:t>
                    </a:r>
                    <a:endParaRPr sz="111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  <a:p>
                    <a:pPr marL="0" lvl="0" indent="0" algn="l" rtl="0">
                      <a:spcBef>
                        <a:spcPts val="90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11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delinquent_months</a:t>
                    </a:r>
                    <a:endParaRPr sz="111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80" name="Google Shape;180;p17"/>
                <p:cNvGrpSpPr/>
                <p:nvPr/>
              </p:nvGrpSpPr>
              <p:grpSpPr>
                <a:xfrm>
                  <a:off x="0" y="133350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81" name="Google Shape;181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" name="Google Shape;182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total_dpd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83" name="Google Shape;183;p17"/>
                <p:cNvGrpSpPr/>
                <p:nvPr/>
              </p:nvGrpSpPr>
              <p:grpSpPr>
                <a:xfrm>
                  <a:off x="0" y="163830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84" name="Google Shape;184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" name="Google Shape;185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enquiry_count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86" name="Google Shape;186;p17"/>
                <p:cNvGrpSpPr/>
                <p:nvPr/>
              </p:nvGrpSpPr>
              <p:grpSpPr>
                <a:xfrm>
                  <a:off x="0" y="1943100"/>
                  <a:ext cx="3591000" cy="247800"/>
                  <a:chOff x="0" y="0"/>
                  <a:chExt cx="3591000" cy="247800"/>
                </a:xfrm>
              </p:grpSpPr>
              <p:sp>
                <p:nvSpPr>
                  <p:cNvPr id="187" name="Google Shape;187;p17"/>
                  <p:cNvSpPr/>
                  <p:nvPr/>
                </p:nvSpPr>
                <p:spPr>
                  <a:xfrm>
                    <a:off x="0" y="38100"/>
                    <a:ext cx="57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000" h="120000" extrusionOk="0">
                        <a:moveTo>
                          <a:pt x="0" y="0"/>
                        </a:moveTo>
                        <a:lnTo>
                          <a:pt x="120000" y="60000"/>
                        </a:ln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9050" cap="rnd" cmpd="sng">
                    <a:solidFill>
                      <a:srgbClr val="2563E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" name="Google Shape;188;p17"/>
                  <p:cNvSpPr txBox="1"/>
                  <p:nvPr/>
                </p:nvSpPr>
                <p:spPr>
                  <a:xfrm>
                    <a:off x="152400" y="0"/>
                    <a:ext cx="3438600" cy="2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900"/>
                      </a:spcAft>
                      <a:buNone/>
                    </a:pPr>
                    <a:r>
                      <a:rPr lang="en" sz="1200" b="0">
                        <a:solidFill>
                          <a:srgbClr val="111827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credit_utilization_ratio</a:t>
                    </a:r>
                    <a:endParaRPr sz="1200" b="0">
                      <a:solidFill>
                        <a:srgbClr val="111827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4" name="Google Shape;194;p18"/>
          <p:cNvSpPr/>
          <p:nvPr/>
        </p:nvSpPr>
        <p:spPr>
          <a:xfrm>
            <a:off x="381000" y="0"/>
            <a:ext cx="1143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" name="Google Shape;195;p18"/>
          <p:cNvGrpSpPr/>
          <p:nvPr/>
        </p:nvGrpSpPr>
        <p:grpSpPr>
          <a:xfrm>
            <a:off x="7239000" y="238125"/>
            <a:ext cx="1733700" cy="247650"/>
            <a:chOff x="0" y="0"/>
            <a:chExt cx="1733700" cy="247650"/>
          </a:xfrm>
        </p:grpSpPr>
        <p:sp>
          <p:nvSpPr>
            <p:cNvPr id="196" name="Google Shape;196;p18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name="adj" fmla="val 16666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57150" y="57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LAUKI </a:t>
              </a:r>
              <a:r>
                <a:rPr lang="en" sz="14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FINANCE</a:t>
              </a:r>
              <a:endParaRPr sz="1400" b="0">
                <a:solidFill>
                  <a:srgbClr val="0F3D70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199" name="Google Shape;199;p18"/>
          <p:cNvCxnSpPr/>
          <p:nvPr/>
        </p:nvCxnSpPr>
        <p:spPr>
          <a:xfrm>
            <a:off x="4429125" y="1047750"/>
            <a:ext cx="0" cy="37149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18"/>
          <p:cNvSpPr txBox="1"/>
          <p:nvPr/>
        </p:nvSpPr>
        <p:spPr>
          <a:xfrm>
            <a:off x="381000" y="30480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Significant Variables &amp; Information Value</a:t>
            </a:r>
            <a:endParaRPr sz="260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"/>
              </a:spcBef>
              <a:spcAft>
                <a:spcPts val="600"/>
              </a:spcAft>
              <a:buNone/>
            </a:pPr>
            <a:r>
              <a:rPr lang="en" sz="10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Key predictors ranked by Information Value (IV) &amp; Logistic Regression Feature Importance</a:t>
            </a:r>
            <a:endParaRPr sz="1000" b="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381000" y="1000125"/>
            <a:ext cx="38577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0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Information Value (IV) Rankings</a:t>
            </a:r>
            <a:endParaRPr sz="1000" b="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aphicFrame>
        <p:nvGraphicFramePr>
          <p:cNvPr id="202" name="Google Shape;202;p18"/>
          <p:cNvGraphicFramePr/>
          <p:nvPr>
            <p:extLst>
              <p:ext uri="{D42A27DB-BD31-4B8C-83A1-F6EECF244321}">
                <p14:modId xmlns:p14="http://schemas.microsoft.com/office/powerpoint/2010/main" val="1672324032"/>
              </p:ext>
            </p:extLst>
          </p:nvPr>
        </p:nvGraphicFramePr>
        <p:xfrm>
          <a:off x="381000" y="1238250"/>
          <a:ext cx="3857625" cy="3848798"/>
        </p:xfrm>
        <a:graphic>
          <a:graphicData uri="http://schemas.openxmlformats.org/drawingml/2006/table">
            <a:tbl>
              <a:tblPr>
                <a:noFill/>
                <a:tableStyleId>{30D04820-811C-4A7A-9A58-51759F0462E8}</a:tableStyleId>
              </a:tblPr>
              <a:tblGrid>
                <a:gridCol w="19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Predictor Variable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IV Score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/>
                        <a:t>credit_utilization_ratio</a:t>
                      </a:r>
                      <a:endParaRPr sz="900" b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0F3D70"/>
                          </a:solidFill>
                        </a:rPr>
                        <a:t>2.35</a:t>
                      </a:r>
                      <a:endParaRPr sz="900" b="1">
                        <a:solidFill>
                          <a:srgbClr val="0F3D7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/>
                        <a:t>delinquency_ratio</a:t>
                      </a:r>
                      <a:endParaRPr sz="900" b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0F3D70"/>
                          </a:solidFill>
                        </a:rPr>
                        <a:t>0.71</a:t>
                      </a:r>
                      <a:endParaRPr sz="900" b="1">
                        <a:solidFill>
                          <a:srgbClr val="0F3D7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loan_to_income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>
                          <a:solidFill>
                            <a:srgbClr val="2563EB"/>
                          </a:solidFill>
                        </a:rPr>
                        <a:t>0.47</a:t>
                      </a:r>
                      <a:endParaRPr sz="900" b="0">
                        <a:solidFill>
                          <a:srgbClr val="2563E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5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avg_dpd_per_delinquency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>
                          <a:solidFill>
                            <a:srgbClr val="2563EB"/>
                          </a:solidFill>
                        </a:rPr>
                        <a:t>0.40</a:t>
                      </a:r>
                      <a:endParaRPr sz="900" b="0">
                        <a:solidFill>
                          <a:srgbClr val="2563E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loan_purpose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>
                          <a:solidFill>
                            <a:srgbClr val="2563EB"/>
                          </a:solidFill>
                        </a:rPr>
                        <a:t>0.36</a:t>
                      </a:r>
                      <a:endParaRPr sz="900" b="0">
                        <a:solidFill>
                          <a:srgbClr val="2563E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residence_type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>
                          <a:solidFill>
                            <a:srgbClr val="2563EB"/>
                          </a:solidFill>
                        </a:rPr>
                        <a:t>0.24</a:t>
                      </a:r>
                      <a:endParaRPr sz="900" b="0">
                        <a:solidFill>
                          <a:srgbClr val="2563E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loan_tenure_months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>
                          <a:solidFill>
                            <a:srgbClr val="2563EB"/>
                          </a:solidFill>
                        </a:rPr>
                        <a:t>0.21</a:t>
                      </a:r>
                      <a:endParaRPr sz="900" b="0">
                        <a:solidFill>
                          <a:srgbClr val="2563E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loan_type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>
                          <a:solidFill>
                            <a:srgbClr val="2563EB"/>
                          </a:solidFill>
                        </a:rPr>
                        <a:t>0.16</a:t>
                      </a:r>
                      <a:endParaRPr sz="900" b="0">
                        <a:solidFill>
                          <a:srgbClr val="2563E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age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>
                          <a:solidFill>
                            <a:srgbClr val="2563EB"/>
                          </a:solidFill>
                        </a:rPr>
                        <a:t>0.08</a:t>
                      </a:r>
                      <a:endParaRPr sz="900" b="0">
                        <a:solidFill>
                          <a:srgbClr val="2563E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435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number_of_open_accounts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dirty="0">
                          <a:solidFill>
                            <a:srgbClr val="2563EB"/>
                          </a:solidFill>
                        </a:rPr>
                        <a:t>0.08</a:t>
                      </a:r>
                      <a:endParaRPr sz="900" b="0" dirty="0">
                        <a:solidFill>
                          <a:srgbClr val="2563E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03" name="Google Shape;203;p18"/>
          <p:cNvGrpSpPr/>
          <p:nvPr/>
        </p:nvGrpSpPr>
        <p:grpSpPr>
          <a:xfrm>
            <a:off x="4619625" y="1000125"/>
            <a:ext cx="4143300" cy="3476775"/>
            <a:chOff x="4619625" y="1000125"/>
            <a:chExt cx="4143300" cy="3476775"/>
          </a:xfrm>
        </p:grpSpPr>
        <p:sp>
          <p:nvSpPr>
            <p:cNvPr id="204" name="Google Shape;204;p18"/>
            <p:cNvSpPr txBox="1"/>
            <p:nvPr/>
          </p:nvSpPr>
          <p:spPr>
            <a:xfrm>
              <a:off x="4619625" y="1000125"/>
              <a:ext cx="4143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10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Logistic Regression Feature Importance</a:t>
              </a:r>
              <a:endParaRPr sz="10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05" name="Google Shape;205;p18"/>
            <p:cNvGrpSpPr/>
            <p:nvPr/>
          </p:nvGrpSpPr>
          <p:grpSpPr>
            <a:xfrm>
              <a:off x="4619625" y="3238500"/>
              <a:ext cx="4143300" cy="1238400"/>
              <a:chOff x="0" y="0"/>
              <a:chExt cx="4143300" cy="1238400"/>
            </a:xfrm>
          </p:grpSpPr>
          <p:sp>
            <p:nvSpPr>
              <p:cNvPr id="206" name="Google Shape;206;p18"/>
              <p:cNvSpPr/>
              <p:nvPr/>
            </p:nvSpPr>
            <p:spPr>
              <a:xfrm>
                <a:off x="0" y="0"/>
                <a:ext cx="4143300" cy="1238400"/>
              </a:xfrm>
              <a:prstGeom prst="roundRect">
                <a:avLst>
                  <a:gd name="adj" fmla="val 4615"/>
                </a:avLst>
              </a:prstGeom>
              <a:solidFill>
                <a:srgbClr val="F4F7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0" y="0"/>
                <a:ext cx="38100" cy="1238400"/>
              </a:xfrm>
              <a:prstGeom prst="roundRect">
                <a:avLst>
                  <a:gd name="adj" fmla="val 50000"/>
                </a:avLst>
              </a:prstGeom>
              <a:solidFill>
                <a:srgbClr val="0F3D7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8"/>
              <p:cNvSpPr txBox="1"/>
              <p:nvPr/>
            </p:nvSpPr>
            <p:spPr>
              <a:xfrm>
                <a:off x="171450" y="133350"/>
                <a:ext cx="38100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33" b="0">
                    <a:solidFill>
                      <a:srgbClr val="0F3D7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Key Insights</a:t>
                </a:r>
                <a:endParaRPr sz="833" b="0">
                  <a:solidFill>
                    <a:srgbClr val="0F3D7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925" b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• </a:t>
                </a:r>
                <a:r>
                  <a:rPr lang="en" sz="925" b="1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Top Predictor:</a:t>
                </a:r>
                <a:r>
                  <a:rPr lang="en" sz="925" b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" sz="925" b="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credit_utilization_ratio</a:t>
                </a:r>
                <a:r>
                  <a:rPr lang="en" sz="925" b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exhibits overwhelmingly strong predictive power (IV: 2.35).</a:t>
                </a:r>
                <a:endParaRPr sz="925" b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600"/>
                  </a:spcAft>
                  <a:buNone/>
                </a:pPr>
                <a:r>
                  <a:rPr lang="en" sz="925" b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• </a:t>
                </a:r>
                <a:r>
                  <a:rPr lang="en" sz="925" b="1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Positive Drivers:</a:t>
                </a:r>
                <a:r>
                  <a:rPr lang="en" sz="925" b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Higher loan-to-income and delinquency ratios strongly drive default risk in the logistic regression model.</a:t>
                </a:r>
                <a:endParaRPr sz="925" b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693B54-0C8E-D71B-969F-ACD91711C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1238249"/>
            <a:ext cx="4190924" cy="1866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381000" y="0"/>
            <a:ext cx="1143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19"/>
          <p:cNvGrpSpPr/>
          <p:nvPr/>
        </p:nvGrpSpPr>
        <p:grpSpPr>
          <a:xfrm>
            <a:off x="7429500" y="285750"/>
            <a:ext cx="1733700" cy="247650"/>
            <a:chOff x="0" y="0"/>
            <a:chExt cx="1733700" cy="247650"/>
          </a:xfrm>
        </p:grpSpPr>
        <p:sp>
          <p:nvSpPr>
            <p:cNvPr id="216" name="Google Shape;216;p19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name="adj" fmla="val 16666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57150" y="57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LAUKI </a:t>
              </a:r>
              <a:r>
                <a:rPr lang="en" sz="14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FINANCE</a:t>
              </a:r>
              <a:endParaRPr sz="1400" b="0">
                <a:solidFill>
                  <a:srgbClr val="0F3D70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19" name="Google Shape;219;p19"/>
          <p:cNvSpPr txBox="1"/>
          <p:nvPr/>
        </p:nvSpPr>
        <p:spPr>
          <a:xfrm>
            <a:off x="381000" y="33337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Modeling Workflow Steps</a:t>
            </a:r>
            <a:endParaRPr sz="260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0" name="Google Shape;220;p19"/>
          <p:cNvCxnSpPr/>
          <p:nvPr/>
        </p:nvCxnSpPr>
        <p:spPr>
          <a:xfrm>
            <a:off x="952500" y="2762250"/>
            <a:ext cx="7239000" cy="0"/>
          </a:xfrm>
          <a:prstGeom prst="straightConnector1">
            <a:avLst/>
          </a:prstGeom>
          <a:solidFill>
            <a:srgbClr val="FFFFFF"/>
          </a:solidFill>
          <a:ln w="285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21" name="Google Shape;221;p19"/>
          <p:cNvGrpSpPr/>
          <p:nvPr/>
        </p:nvGrpSpPr>
        <p:grpSpPr>
          <a:xfrm>
            <a:off x="381000" y="1047750"/>
            <a:ext cx="1371750" cy="3619500"/>
            <a:chOff x="0" y="0"/>
            <a:chExt cx="1371750" cy="36195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1266900" cy="266700"/>
            </a:xfrm>
            <a:prstGeom prst="roundRect">
              <a:avLst>
                <a:gd name="adj" fmla="val 14285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9"/>
            <p:cNvSpPr txBox="1"/>
            <p:nvPr/>
          </p:nvSpPr>
          <p:spPr>
            <a:xfrm>
              <a:off x="76200" y="38100"/>
              <a:ext cx="11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01</a:t>
              </a:r>
              <a:endParaRPr sz="9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1314450" y="133350"/>
              <a:ext cx="573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2563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0" y="342900"/>
              <a:ext cx="1266900" cy="3276600"/>
            </a:xfrm>
            <a:prstGeom prst="roundRect">
              <a:avLst>
                <a:gd name="adj" fmla="val 4511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0" y="342900"/>
              <a:ext cx="12669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9"/>
            <p:cNvSpPr txBox="1"/>
            <p:nvPr/>
          </p:nvSpPr>
          <p:spPr>
            <a:xfrm>
              <a:off x="114300" y="495300"/>
              <a:ext cx="10383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Dataset Integration</a:t>
              </a:r>
              <a:endParaRPr sz="11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Merging critical data sources: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Internal customer records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Loan details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External credit bureau data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1790700" y="1047750"/>
            <a:ext cx="1371750" cy="3619500"/>
            <a:chOff x="0" y="0"/>
            <a:chExt cx="1371750" cy="3619500"/>
          </a:xfrm>
        </p:grpSpPr>
        <p:sp>
          <p:nvSpPr>
            <p:cNvPr id="229" name="Google Shape;229;p19"/>
            <p:cNvSpPr/>
            <p:nvPr/>
          </p:nvSpPr>
          <p:spPr>
            <a:xfrm>
              <a:off x="0" y="0"/>
              <a:ext cx="1266900" cy="266700"/>
            </a:xfrm>
            <a:prstGeom prst="roundRect">
              <a:avLst>
                <a:gd name="adj" fmla="val 14285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76200" y="38100"/>
              <a:ext cx="11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02</a:t>
              </a:r>
              <a:endParaRPr sz="9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1314450" y="133350"/>
              <a:ext cx="573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2563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0" y="342900"/>
              <a:ext cx="1266900" cy="3276600"/>
            </a:xfrm>
            <a:prstGeom prst="roundRect">
              <a:avLst>
                <a:gd name="adj" fmla="val 4511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0" y="342900"/>
              <a:ext cx="12669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114300" y="495300"/>
              <a:ext cx="10383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Target Variable</a:t>
              </a:r>
              <a:endParaRPr sz="11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Binary classification indicator ('default'):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" sz="900" b="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: Good credit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" sz="900" b="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: Bad credit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5" name="Google Shape;235;p19"/>
          <p:cNvGrpSpPr/>
          <p:nvPr/>
        </p:nvGrpSpPr>
        <p:grpSpPr>
          <a:xfrm>
            <a:off x="3200400" y="1047750"/>
            <a:ext cx="1371750" cy="3619500"/>
            <a:chOff x="0" y="0"/>
            <a:chExt cx="1371750" cy="3619500"/>
          </a:xfrm>
        </p:grpSpPr>
        <p:sp>
          <p:nvSpPr>
            <p:cNvPr id="236" name="Google Shape;236;p19"/>
            <p:cNvSpPr/>
            <p:nvPr/>
          </p:nvSpPr>
          <p:spPr>
            <a:xfrm>
              <a:off x="0" y="0"/>
              <a:ext cx="1266900" cy="266700"/>
            </a:xfrm>
            <a:prstGeom prst="roundRect">
              <a:avLst>
                <a:gd name="adj" fmla="val 14285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9"/>
            <p:cNvSpPr txBox="1"/>
            <p:nvPr/>
          </p:nvSpPr>
          <p:spPr>
            <a:xfrm>
              <a:off x="76200" y="38100"/>
              <a:ext cx="11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03</a:t>
              </a:r>
              <a:endParaRPr sz="9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1314450" y="133350"/>
              <a:ext cx="573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2563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0" y="342900"/>
              <a:ext cx="1266900" cy="3276600"/>
            </a:xfrm>
            <a:prstGeom prst="roundRect">
              <a:avLst>
                <a:gd name="adj" fmla="val 4511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0" y="342900"/>
              <a:ext cx="12669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114300" y="495300"/>
              <a:ext cx="10383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Data Preprocessing</a:t>
              </a:r>
              <a:endParaRPr sz="11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Cleaning typos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Imputing missing categorical values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Feature selection via IV, VIF &amp; domain rules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Min-Max scaling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p19"/>
          <p:cNvGrpSpPr/>
          <p:nvPr/>
        </p:nvGrpSpPr>
        <p:grpSpPr>
          <a:xfrm>
            <a:off x="4610100" y="1047750"/>
            <a:ext cx="1371750" cy="3619500"/>
            <a:chOff x="0" y="0"/>
            <a:chExt cx="1371750" cy="3619500"/>
          </a:xfrm>
        </p:grpSpPr>
        <p:sp>
          <p:nvSpPr>
            <p:cNvPr id="243" name="Google Shape;243;p19"/>
            <p:cNvSpPr/>
            <p:nvPr/>
          </p:nvSpPr>
          <p:spPr>
            <a:xfrm>
              <a:off x="0" y="0"/>
              <a:ext cx="1266900" cy="266700"/>
            </a:xfrm>
            <a:prstGeom prst="roundRect">
              <a:avLst>
                <a:gd name="adj" fmla="val 14285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76200" y="38100"/>
              <a:ext cx="11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04</a:t>
              </a:r>
              <a:endParaRPr sz="9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1314450" y="133350"/>
              <a:ext cx="573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2563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0" y="342900"/>
              <a:ext cx="1266900" cy="3276600"/>
            </a:xfrm>
            <a:prstGeom prst="roundRect">
              <a:avLst>
                <a:gd name="adj" fmla="val 4511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0" y="342900"/>
              <a:ext cx="12669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/>
            <p:cNvSpPr txBox="1"/>
            <p:nvPr/>
          </p:nvSpPr>
          <p:spPr>
            <a:xfrm>
              <a:off x="114300" y="495300"/>
              <a:ext cx="10383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Train-Test Split</a:t>
              </a:r>
              <a:endParaRPr sz="11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Data partition ratio: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" sz="900" b="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75%</a:t>
              </a: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Training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" sz="900" b="1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25%</a:t>
              </a: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Testing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19"/>
          <p:cNvGrpSpPr/>
          <p:nvPr/>
        </p:nvGrpSpPr>
        <p:grpSpPr>
          <a:xfrm>
            <a:off x="6019800" y="1047750"/>
            <a:ext cx="1371750" cy="3619500"/>
            <a:chOff x="0" y="0"/>
            <a:chExt cx="1371750" cy="3619500"/>
          </a:xfrm>
        </p:grpSpPr>
        <p:sp>
          <p:nvSpPr>
            <p:cNvPr id="250" name="Google Shape;250;p19"/>
            <p:cNvSpPr/>
            <p:nvPr/>
          </p:nvSpPr>
          <p:spPr>
            <a:xfrm>
              <a:off x="0" y="0"/>
              <a:ext cx="1266900" cy="266700"/>
            </a:xfrm>
            <a:prstGeom prst="roundRect">
              <a:avLst>
                <a:gd name="adj" fmla="val 14285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76200" y="38100"/>
              <a:ext cx="11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05</a:t>
              </a:r>
              <a:endParaRPr sz="9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14450" y="133350"/>
              <a:ext cx="573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2563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0" y="342900"/>
              <a:ext cx="1266900" cy="3276600"/>
            </a:xfrm>
            <a:prstGeom prst="roundRect">
              <a:avLst>
                <a:gd name="adj" fmla="val 4511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0" y="342900"/>
              <a:ext cx="12669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114300" y="495300"/>
              <a:ext cx="10383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Algorithm &amp; Tuning</a:t>
              </a:r>
              <a:endParaRPr sz="935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765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Exploration:</a:t>
              </a:r>
              <a:endParaRPr sz="765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65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Logistic Regression</a:t>
              </a:r>
              <a:endParaRPr sz="765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65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XGBoost</a:t>
              </a:r>
              <a:endParaRPr sz="765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65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Random Forest</a:t>
              </a:r>
              <a:endParaRPr sz="765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65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Optimization:</a:t>
              </a:r>
              <a:endParaRPr sz="765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65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RandomizedSearchCV</a:t>
              </a:r>
              <a:endParaRPr sz="765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" sz="765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Optuna</a:t>
              </a:r>
              <a:endParaRPr sz="765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6" name="Google Shape;256;p19"/>
          <p:cNvGrpSpPr/>
          <p:nvPr/>
        </p:nvGrpSpPr>
        <p:grpSpPr>
          <a:xfrm>
            <a:off x="7429500" y="1047750"/>
            <a:ext cx="1333500" cy="3619500"/>
            <a:chOff x="0" y="0"/>
            <a:chExt cx="1333500" cy="3619500"/>
          </a:xfrm>
        </p:grpSpPr>
        <p:sp>
          <p:nvSpPr>
            <p:cNvPr id="257" name="Google Shape;257;p19"/>
            <p:cNvSpPr/>
            <p:nvPr/>
          </p:nvSpPr>
          <p:spPr>
            <a:xfrm>
              <a:off x="0" y="0"/>
              <a:ext cx="1333500" cy="266700"/>
            </a:xfrm>
            <a:prstGeom prst="roundRect">
              <a:avLst>
                <a:gd name="adj" fmla="val 14285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76200" y="38100"/>
              <a:ext cx="1181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06</a:t>
              </a:r>
              <a:endParaRPr sz="9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0" y="342900"/>
              <a:ext cx="1333500" cy="3276600"/>
            </a:xfrm>
            <a:prstGeom prst="roundRect">
              <a:avLst>
                <a:gd name="adj" fmla="val 4285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0" y="342900"/>
              <a:ext cx="1333500" cy="38100"/>
            </a:xfrm>
            <a:prstGeom prst="roundRect">
              <a:avLst>
                <a:gd name="adj" fmla="val 50000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9"/>
            <p:cNvSpPr txBox="1"/>
            <p:nvPr/>
          </p:nvSpPr>
          <p:spPr>
            <a:xfrm>
              <a:off x="114300" y="495300"/>
              <a:ext cx="1104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Evaluation Metrics</a:t>
              </a:r>
              <a:endParaRPr sz="11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Performance assessment: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AUC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KS Statistic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Gini Coefficient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Classification Reports</a:t>
              </a:r>
              <a:endParaRPr sz="9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62" name="Google Shape;262;p19"/>
          <p:cNvSpPr/>
          <p:nvPr/>
        </p:nvSpPr>
        <p:spPr>
          <a:xfrm>
            <a:off x="381000" y="4572000"/>
            <a:ext cx="8382000" cy="30480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533400" y="4629150"/>
            <a:ext cx="807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900" b="0">
                <a:solidFill>
                  <a:srgbClr val="0F3D7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END-TO-END CREDIT RISK MODELING PIPELINE • ARCHITECTURE OVERVIEW</a:t>
            </a:r>
            <a:endParaRPr sz="900" b="0">
              <a:solidFill>
                <a:srgbClr val="0F3D7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81000" y="0"/>
            <a:ext cx="1143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0" name="Google Shape;270;p20"/>
          <p:cNvGrpSpPr/>
          <p:nvPr/>
        </p:nvGrpSpPr>
        <p:grpSpPr>
          <a:xfrm>
            <a:off x="7239000" y="285750"/>
            <a:ext cx="1733700" cy="247650"/>
            <a:chOff x="0" y="0"/>
            <a:chExt cx="1733700" cy="247650"/>
          </a:xfrm>
        </p:grpSpPr>
        <p:sp>
          <p:nvSpPr>
            <p:cNvPr id="271" name="Google Shape;271;p20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name="adj" fmla="val 16666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57150" y="57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0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LAUKI </a:t>
              </a:r>
              <a:r>
                <a:rPr lang="en" sz="14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FINANCE</a:t>
              </a:r>
              <a:endParaRPr sz="1400" b="0">
                <a:solidFill>
                  <a:srgbClr val="0F3D70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74" name="Google Shape;274;p20"/>
          <p:cNvSpPr txBox="1"/>
          <p:nvPr/>
        </p:nvSpPr>
        <p:spPr>
          <a:xfrm>
            <a:off x="381000" y="285750"/>
            <a:ext cx="6667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Algorithm Exploration &amp; Comparison</a:t>
            </a:r>
            <a:endParaRPr sz="260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5" name="Google Shape;275;p20"/>
          <p:cNvGrpSpPr/>
          <p:nvPr/>
        </p:nvGrpSpPr>
        <p:grpSpPr>
          <a:xfrm>
            <a:off x="381000" y="857250"/>
            <a:ext cx="2667000" cy="1779150"/>
            <a:chOff x="0" y="0"/>
            <a:chExt cx="2667000" cy="1779150"/>
          </a:xfrm>
        </p:grpSpPr>
        <p:sp>
          <p:nvSpPr>
            <p:cNvPr id="276" name="Google Shape;276;p20"/>
            <p:cNvSpPr/>
            <p:nvPr/>
          </p:nvSpPr>
          <p:spPr>
            <a:xfrm>
              <a:off x="0" y="0"/>
              <a:ext cx="2667000" cy="266700"/>
            </a:xfrm>
            <a:prstGeom prst="roundRect">
              <a:avLst>
                <a:gd name="adj" fmla="val 14285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95250" y="38100"/>
              <a:ext cx="2476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LOGISTIC REGRESSION (FAVORED)</a:t>
              </a:r>
              <a:endParaRPr sz="900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278" name="Google Shape;278;p20"/>
            <p:cNvPicPr preferRelativeResize="0"/>
            <p:nvPr/>
          </p:nvPicPr>
          <p:blipFill rotWithShape="1">
            <a:blip r:embed="rId3">
              <a:alphaModFix/>
            </a:blip>
            <a:srcRect l="40" r="40"/>
            <a:stretch/>
          </p:blipFill>
          <p:spPr>
            <a:xfrm>
              <a:off x="0" y="323850"/>
              <a:ext cx="2667000" cy="1455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" name="Google Shape;279;p20"/>
          <p:cNvGrpSpPr/>
          <p:nvPr/>
        </p:nvGrpSpPr>
        <p:grpSpPr>
          <a:xfrm>
            <a:off x="3238500" y="857250"/>
            <a:ext cx="2667000" cy="1793550"/>
            <a:chOff x="0" y="0"/>
            <a:chExt cx="2667000" cy="1793550"/>
          </a:xfrm>
        </p:grpSpPr>
        <p:sp>
          <p:nvSpPr>
            <p:cNvPr id="280" name="Google Shape;280;p20"/>
            <p:cNvSpPr/>
            <p:nvPr/>
          </p:nvSpPr>
          <p:spPr>
            <a:xfrm>
              <a:off x="0" y="0"/>
              <a:ext cx="2667000" cy="266700"/>
            </a:xfrm>
            <a:prstGeom prst="roundRect">
              <a:avLst>
                <a:gd name="adj" fmla="val 14285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 txBox="1"/>
            <p:nvPr/>
          </p:nvSpPr>
          <p:spPr>
            <a:xfrm>
              <a:off x="95250" y="38100"/>
              <a:ext cx="2476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0F3D7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XGBOOST CLASSIFIER</a:t>
              </a:r>
              <a:endParaRPr sz="900" b="0">
                <a:solidFill>
                  <a:srgbClr val="0F3D7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282" name="Google Shape;282;p20"/>
            <p:cNvPicPr preferRelativeResize="0"/>
            <p:nvPr/>
          </p:nvPicPr>
          <p:blipFill rotWithShape="1">
            <a:blip r:embed="rId4">
              <a:alphaModFix/>
            </a:blip>
            <a:srcRect l="10" r="10"/>
            <a:stretch/>
          </p:blipFill>
          <p:spPr>
            <a:xfrm>
              <a:off x="0" y="323850"/>
              <a:ext cx="2667000" cy="1469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3" name="Google Shape;283;p20"/>
          <p:cNvGrpSpPr/>
          <p:nvPr/>
        </p:nvGrpSpPr>
        <p:grpSpPr>
          <a:xfrm>
            <a:off x="6096000" y="857250"/>
            <a:ext cx="2667000" cy="1932750"/>
            <a:chOff x="0" y="0"/>
            <a:chExt cx="2667000" cy="1932750"/>
          </a:xfrm>
        </p:grpSpPr>
        <p:sp>
          <p:nvSpPr>
            <p:cNvPr id="284" name="Google Shape;284;p20"/>
            <p:cNvSpPr/>
            <p:nvPr/>
          </p:nvSpPr>
          <p:spPr>
            <a:xfrm>
              <a:off x="0" y="0"/>
              <a:ext cx="2667000" cy="266700"/>
            </a:xfrm>
            <a:prstGeom prst="roundRect">
              <a:avLst>
                <a:gd name="adj" fmla="val 14285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0"/>
            <p:cNvSpPr txBox="1"/>
            <p:nvPr/>
          </p:nvSpPr>
          <p:spPr>
            <a:xfrm>
              <a:off x="95250" y="38100"/>
              <a:ext cx="2476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0F3D7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RANDOM FOREST CLASSIFIER</a:t>
              </a:r>
              <a:endParaRPr sz="900" b="0">
                <a:solidFill>
                  <a:srgbClr val="0F3D7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286" name="Google Shape;286;p20"/>
            <p:cNvPicPr preferRelativeResize="0"/>
            <p:nvPr/>
          </p:nvPicPr>
          <p:blipFill rotWithShape="1">
            <a:blip r:embed="rId5">
              <a:alphaModFix/>
            </a:blip>
            <a:srcRect l="10" r="10"/>
            <a:stretch/>
          </p:blipFill>
          <p:spPr>
            <a:xfrm>
              <a:off x="0" y="323850"/>
              <a:ext cx="2667000" cy="1608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7" name="Google Shape;287;p20"/>
          <p:cNvGrpSpPr/>
          <p:nvPr/>
        </p:nvGrpSpPr>
        <p:grpSpPr>
          <a:xfrm>
            <a:off x="381000" y="2905125"/>
            <a:ext cx="8382000" cy="1857300"/>
            <a:chOff x="0" y="0"/>
            <a:chExt cx="8382000" cy="1857300"/>
          </a:xfrm>
        </p:grpSpPr>
        <p:sp>
          <p:nvSpPr>
            <p:cNvPr id="288" name="Google Shape;288;p20"/>
            <p:cNvSpPr/>
            <p:nvPr/>
          </p:nvSpPr>
          <p:spPr>
            <a:xfrm>
              <a:off x="0" y="0"/>
              <a:ext cx="8382000" cy="1857300"/>
            </a:xfrm>
            <a:prstGeom prst="roundRect">
              <a:avLst>
                <a:gd name="adj" fmla="val 4102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0" y="0"/>
              <a:ext cx="57300" cy="1857300"/>
            </a:xfrm>
            <a:prstGeom prst="roundRect">
              <a:avLst>
                <a:gd name="adj" fmla="val 50000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228600" y="152400"/>
              <a:ext cx="79248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PRODUCTION SELECTION &amp; EXECUTIVE TAKEAWAYS</a:t>
              </a:r>
              <a:endParaRPr sz="9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Logistic Regression is selected for production deployment over higher raw AUC models.</a:t>
              </a:r>
              <a:endParaRPr sz="14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• Higher Raw Performance Context:</a:t>
              </a:r>
              <a:r>
                <a:rPr lang="en" sz="1100" b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While XGBoost yields a slightly higher raw AUC, the gain is marginal compared to the interpretability trade-off in credit risk.</a:t>
              </a:r>
              <a:endParaRPr sz="1100" b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• Superior Transparency &amp; Governance:</a:t>
              </a:r>
              <a:r>
                <a:rPr lang="en" sz="1100" b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Logistic Regression provides full coefficient extractability, facilitating regulatory compliance and auditability.</a:t>
              </a:r>
              <a:endParaRPr sz="1100" b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rPr>
                <a:t>• Business Engine Alignment:</a:t>
              </a:r>
              <a:r>
                <a:rPr lang="en" sz="1100" b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Seamless integration with existing business rule engines and adverse action scorecards.</a:t>
              </a:r>
              <a:endParaRPr sz="1100" b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96" name="Google Shape;296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381000" y="0"/>
              <a:ext cx="1143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8" name="Google Shape;298;p21"/>
            <p:cNvGrpSpPr/>
            <p:nvPr/>
          </p:nvGrpSpPr>
          <p:grpSpPr>
            <a:xfrm>
              <a:off x="7048500" y="285750"/>
              <a:ext cx="1733700" cy="247650"/>
              <a:chOff x="0" y="0"/>
              <a:chExt cx="1733700" cy="247650"/>
            </a:xfrm>
          </p:grpSpPr>
          <p:sp>
            <p:nvSpPr>
              <p:cNvPr id="299" name="Google Shape;299;p21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F3D7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1"/>
              <p:cNvSpPr/>
              <p:nvPr/>
            </p:nvSpPr>
            <p:spPr>
              <a:xfrm>
                <a:off x="57150" y="57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1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>
                    <a:solidFill>
                      <a:srgbClr val="0F3D70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LAUKI </a:t>
                </a:r>
                <a:r>
                  <a:rPr lang="en" sz="1400" b="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FINANCE</a:t>
                </a:r>
                <a:endParaRPr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sp>
          <p:nvSpPr>
            <p:cNvPr id="302" name="Google Shape;302;p21"/>
            <p:cNvSpPr/>
            <p:nvPr/>
          </p:nvSpPr>
          <p:spPr>
            <a:xfrm>
              <a:off x="4476750" y="1047750"/>
              <a:ext cx="9600" cy="38100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" name="Google Shape;303;p21"/>
          <p:cNvSpPr txBox="1"/>
          <p:nvPr/>
        </p:nvSpPr>
        <p:spPr>
          <a:xfrm>
            <a:off x="381000" y="304800"/>
            <a:ext cx="64770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Model Evaluation &amp; Decile Breakdown</a:t>
            </a:r>
            <a:endParaRPr sz="260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00"/>
              </a:spcBef>
              <a:spcAft>
                <a:spcPts val="600"/>
              </a:spcAft>
              <a:buNone/>
            </a:pPr>
            <a:r>
              <a:rPr lang="en" sz="10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Credit Risk Rank-Ordering Analysis &amp; Cutoff Optimization</a:t>
            </a:r>
            <a:endParaRPr sz="1000" b="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4" name="Google Shape;304;p21"/>
          <p:cNvGrpSpPr/>
          <p:nvPr/>
        </p:nvGrpSpPr>
        <p:grpSpPr>
          <a:xfrm>
            <a:off x="381000" y="1047750"/>
            <a:ext cx="3905400" cy="3628950"/>
            <a:chOff x="0" y="0"/>
            <a:chExt cx="3905400" cy="3628950"/>
          </a:xfrm>
        </p:grpSpPr>
        <p:pic>
          <p:nvPicPr>
            <p:cNvPr id="305" name="Google Shape;305;p21"/>
            <p:cNvPicPr preferRelativeResize="0"/>
            <p:nvPr/>
          </p:nvPicPr>
          <p:blipFill rotWithShape="1">
            <a:blip r:embed="rId3">
              <a:alphaModFix/>
            </a:blip>
            <a:srcRect t="160" b="150"/>
            <a:stretch/>
          </p:blipFill>
          <p:spPr>
            <a:xfrm>
              <a:off x="0" y="0"/>
              <a:ext cx="3905400" cy="1190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6" name="Google Shape;306;p21"/>
            <p:cNvGrpSpPr/>
            <p:nvPr/>
          </p:nvGrpSpPr>
          <p:grpSpPr>
            <a:xfrm>
              <a:off x="0" y="1333500"/>
              <a:ext cx="3905400" cy="2295450"/>
              <a:chOff x="0" y="0"/>
              <a:chExt cx="3905400" cy="2295450"/>
            </a:xfrm>
          </p:grpSpPr>
          <p:sp>
            <p:nvSpPr>
              <p:cNvPr id="307" name="Google Shape;307;p21"/>
              <p:cNvSpPr/>
              <p:nvPr/>
            </p:nvSpPr>
            <p:spPr>
              <a:xfrm>
                <a:off x="0" y="0"/>
                <a:ext cx="3905400" cy="714300"/>
              </a:xfrm>
              <a:prstGeom prst="roundRect">
                <a:avLst>
                  <a:gd name="adj" fmla="val 8000"/>
                </a:avLst>
              </a:prstGeom>
              <a:solidFill>
                <a:srgbClr val="F4F7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1"/>
              <p:cNvSpPr/>
              <p:nvPr/>
            </p:nvSpPr>
            <p:spPr>
              <a:xfrm>
                <a:off x="0" y="0"/>
                <a:ext cx="38100" cy="71430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1"/>
              <p:cNvSpPr txBox="1"/>
              <p:nvPr/>
            </p:nvSpPr>
            <p:spPr>
              <a:xfrm>
                <a:off x="152400" y="76200"/>
                <a:ext cx="3600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 dirty="0">
                    <a:solidFill>
                      <a:srgbClr val="EF4444"/>
                    </a:solidFill>
                    <a:latin typeface="Inter"/>
                    <a:ea typeface="Inter"/>
                    <a:cs typeface="Inter"/>
                    <a:sym typeface="Inter"/>
                  </a:rPr>
                  <a:t>DECILE 9 (HIGHEST RISK)</a:t>
                </a:r>
                <a:r>
                  <a:rPr lang="en" dirty="0"/>
                  <a:t> </a:t>
                </a:r>
                <a:r>
                  <a:rPr lang="en" sz="90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KS: 80.5%</a:t>
                </a:r>
                <a:endParaRPr dirty="0"/>
              </a:p>
              <a:p>
                <a:pPr marL="0" lvl="0" indent="0" algn="l" rtl="0">
                  <a:spcBef>
                    <a:spcPts val="300"/>
                  </a:spcBef>
                  <a:spcAft>
                    <a:spcPts val="600"/>
                  </a:spcAft>
                  <a:buNone/>
                </a:pPr>
                <a:r>
                  <a:rPr lang="en" sz="95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Min Prob:</a:t>
                </a:r>
                <a:r>
                  <a:rPr lang="en" sz="950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0.81  |  </a:t>
                </a:r>
                <a:r>
                  <a:rPr lang="en" sz="95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Event Rate:</a:t>
                </a:r>
                <a:r>
                  <a:rPr lang="en" sz="950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72%  |  </a:t>
                </a:r>
                <a:r>
                  <a:rPr lang="en" sz="95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Cum Event Rate:</a:t>
                </a:r>
                <a:r>
                  <a:rPr lang="en" sz="950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83.8%</a:t>
                </a:r>
                <a:endParaRPr sz="950" b="0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0" name="Google Shape;310;p21"/>
              <p:cNvSpPr/>
              <p:nvPr/>
            </p:nvSpPr>
            <p:spPr>
              <a:xfrm>
                <a:off x="0" y="790575"/>
                <a:ext cx="3905400" cy="714300"/>
              </a:xfrm>
              <a:prstGeom prst="roundRect">
                <a:avLst>
                  <a:gd name="adj" fmla="val 8000"/>
                </a:avLst>
              </a:prstGeom>
              <a:solidFill>
                <a:srgbClr val="EFF6FF"/>
              </a:solidFill>
              <a:ln w="9525" cap="flat" cmpd="sng">
                <a:solidFill>
                  <a:srgbClr val="2563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1"/>
              <p:cNvSpPr/>
              <p:nvPr/>
            </p:nvSpPr>
            <p:spPr>
              <a:xfrm>
                <a:off x="0" y="790575"/>
                <a:ext cx="38100" cy="7143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1"/>
              <p:cNvSpPr txBox="1"/>
              <p:nvPr/>
            </p:nvSpPr>
            <p:spPr>
              <a:xfrm>
                <a:off x="152400" y="866775"/>
                <a:ext cx="3600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 dirty="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DECILE 8 (MAX KS PEAK)</a:t>
                </a:r>
                <a:r>
                  <a:rPr lang="en" dirty="0"/>
                  <a:t> </a:t>
                </a:r>
                <a:r>
                  <a:rPr lang="en" sz="900" b="1" dirty="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KS: 85.9%</a:t>
                </a:r>
                <a:endParaRPr dirty="0"/>
              </a:p>
              <a:p>
                <a:pPr marL="0" lvl="0" indent="0" algn="l" rtl="0">
                  <a:spcBef>
                    <a:spcPts val="300"/>
                  </a:spcBef>
                  <a:spcAft>
                    <a:spcPts val="600"/>
                  </a:spcAft>
                  <a:buNone/>
                </a:pPr>
                <a:r>
                  <a:rPr lang="en" sz="95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Min Prob:</a:t>
                </a:r>
                <a:r>
                  <a:rPr lang="en" sz="950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0.20  |  </a:t>
                </a:r>
                <a:r>
                  <a:rPr lang="en" sz="95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Event Rate:</a:t>
                </a:r>
                <a:r>
                  <a:rPr lang="en" sz="950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12.7%  |  </a:t>
                </a:r>
                <a:r>
                  <a:rPr lang="en" sz="95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Cum Event Rate:</a:t>
                </a:r>
                <a:r>
                  <a:rPr lang="en" sz="950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98.6%</a:t>
                </a:r>
                <a:endParaRPr sz="950" b="0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3" name="Google Shape;313;p21"/>
              <p:cNvSpPr/>
              <p:nvPr/>
            </p:nvSpPr>
            <p:spPr>
              <a:xfrm>
                <a:off x="0" y="1581150"/>
                <a:ext cx="3905400" cy="714300"/>
              </a:xfrm>
              <a:prstGeom prst="roundRect">
                <a:avLst>
                  <a:gd name="adj" fmla="val 8000"/>
                </a:avLst>
              </a:prstGeom>
              <a:solidFill>
                <a:srgbClr val="F4F7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1"/>
              <p:cNvSpPr/>
              <p:nvPr/>
            </p:nvSpPr>
            <p:spPr>
              <a:xfrm>
                <a:off x="0" y="1581150"/>
                <a:ext cx="38100" cy="714300"/>
              </a:xfrm>
              <a:prstGeom prst="roundRect">
                <a:avLst>
                  <a:gd name="adj" fmla="val 50000"/>
                </a:avLst>
              </a:prstGeom>
              <a:solidFill>
                <a:srgbClr val="4B556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1"/>
              <p:cNvSpPr txBox="1"/>
              <p:nvPr/>
            </p:nvSpPr>
            <p:spPr>
              <a:xfrm>
                <a:off x="152400" y="1657350"/>
                <a:ext cx="3600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 dirty="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DECILE 7</a:t>
                </a:r>
                <a:r>
                  <a:rPr lang="en" dirty="0"/>
                  <a:t> </a:t>
                </a:r>
                <a:r>
                  <a:rPr lang="en" sz="90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KS: 76.1%</a:t>
                </a:r>
                <a:endParaRPr dirty="0"/>
              </a:p>
              <a:p>
                <a:pPr marL="0" lvl="0" indent="0" algn="l" rtl="0">
                  <a:spcBef>
                    <a:spcPts val="300"/>
                  </a:spcBef>
                  <a:spcAft>
                    <a:spcPts val="600"/>
                  </a:spcAft>
                  <a:buNone/>
                </a:pPr>
                <a:r>
                  <a:rPr lang="en" sz="95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Min Prob:</a:t>
                </a:r>
                <a:r>
                  <a:rPr lang="en" sz="950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0.03  |  </a:t>
                </a:r>
                <a:r>
                  <a:rPr lang="en" sz="95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Event Rate:</a:t>
                </a:r>
                <a:r>
                  <a:rPr lang="en" sz="950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0.8%  |  </a:t>
                </a:r>
                <a:r>
                  <a:rPr lang="en" sz="950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Cum Event Rate:</a:t>
                </a:r>
                <a:r>
                  <a:rPr lang="en" sz="950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99.5%</a:t>
                </a:r>
                <a:endParaRPr sz="950" b="0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16" name="Google Shape;316;p21"/>
          <p:cNvGrpSpPr/>
          <p:nvPr/>
        </p:nvGrpSpPr>
        <p:grpSpPr>
          <a:xfrm>
            <a:off x="4667250" y="1047750"/>
            <a:ext cx="4095900" cy="3619500"/>
            <a:chOff x="0" y="0"/>
            <a:chExt cx="4095900" cy="3619500"/>
          </a:xfrm>
        </p:grpSpPr>
        <p:grpSp>
          <p:nvGrpSpPr>
            <p:cNvPr id="317" name="Google Shape;317;p21"/>
            <p:cNvGrpSpPr/>
            <p:nvPr/>
          </p:nvGrpSpPr>
          <p:grpSpPr>
            <a:xfrm>
              <a:off x="0" y="0"/>
              <a:ext cx="4095900" cy="1047900"/>
              <a:chOff x="0" y="0"/>
              <a:chExt cx="4095900" cy="1047900"/>
            </a:xfrm>
          </p:grpSpPr>
          <p:sp>
            <p:nvSpPr>
              <p:cNvPr id="318" name="Google Shape;318;p21"/>
              <p:cNvSpPr/>
              <p:nvPr/>
            </p:nvSpPr>
            <p:spPr>
              <a:xfrm>
                <a:off x="0" y="0"/>
                <a:ext cx="40959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0F3D7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1"/>
              <p:cNvSpPr txBox="1"/>
              <p:nvPr/>
            </p:nvSpPr>
            <p:spPr>
              <a:xfrm>
                <a:off x="190500" y="142875"/>
                <a:ext cx="3714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65" b="0" dirty="0">
                    <a:solidFill>
                      <a:srgbClr val="93C5F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MAXIMUM SEPARATION POWER</a:t>
                </a:r>
                <a:endParaRPr sz="765" b="0" dirty="0">
                  <a:solidFill>
                    <a:srgbClr val="93C5F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2720" b="0" dirty="0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85.9%</a:t>
                </a:r>
                <a:r>
                  <a:rPr lang="en" sz="1190" dirty="0"/>
                  <a:t> </a:t>
                </a:r>
                <a:r>
                  <a:rPr lang="en" sz="850" b="0" dirty="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Max KS Statistic achieved at Decile 8</a:t>
                </a:r>
                <a:endParaRPr sz="1190" dirty="0"/>
              </a:p>
              <a:p>
                <a:pPr marL="0" lvl="0" indent="0" algn="l" rtl="0">
                  <a:spcBef>
                    <a:spcPts val="300"/>
                  </a:spcBef>
                  <a:spcAft>
                    <a:spcPts val="600"/>
                  </a:spcAft>
                  <a:buNone/>
                </a:pPr>
                <a:r>
                  <a:rPr lang="en" sz="765" b="0" dirty="0">
                    <a:solidFill>
                      <a:srgbClr val="93C5FD"/>
                    </a:solidFill>
                    <a:latin typeface="Inter"/>
                    <a:ea typeface="Inter"/>
                    <a:cs typeface="Inter"/>
                    <a:sym typeface="Inter"/>
                  </a:rPr>
                  <a:t>Demonstrates exceptional separation between defaulters and non-defaulters.</a:t>
                </a:r>
                <a:endParaRPr sz="765" b="0" dirty="0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0" name="Google Shape;320;p21"/>
            <p:cNvGrpSpPr/>
            <p:nvPr/>
          </p:nvGrpSpPr>
          <p:grpSpPr>
            <a:xfrm>
              <a:off x="0" y="1190625"/>
              <a:ext cx="4095900" cy="1143000"/>
              <a:chOff x="0" y="0"/>
              <a:chExt cx="4095900" cy="1143000"/>
            </a:xfrm>
          </p:grpSpPr>
          <p:sp>
            <p:nvSpPr>
              <p:cNvPr id="321" name="Google Shape;321;p21"/>
              <p:cNvSpPr/>
              <p:nvPr/>
            </p:nvSpPr>
            <p:spPr>
              <a:xfrm>
                <a:off x="0" y="0"/>
                <a:ext cx="4095900" cy="1143000"/>
              </a:xfrm>
              <a:prstGeom prst="roundRect">
                <a:avLst>
                  <a:gd name="adj" fmla="val 6666"/>
                </a:avLst>
              </a:prstGeom>
              <a:solidFill>
                <a:srgbClr val="F4F7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1"/>
              <p:cNvSpPr/>
              <p:nvPr/>
            </p:nvSpPr>
            <p:spPr>
              <a:xfrm>
                <a:off x="0" y="0"/>
                <a:ext cx="40959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1"/>
              <p:cNvSpPr txBox="1"/>
              <p:nvPr/>
            </p:nvSpPr>
            <p:spPr>
              <a:xfrm>
                <a:off x="190500" y="152400"/>
                <a:ext cx="37149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33" b="0" dirty="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KEY BUSINESS TAKEAWAY</a:t>
                </a:r>
                <a:endParaRPr sz="833" b="0" dirty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3" b="1" dirty="0">
                    <a:solidFill>
                      <a:srgbClr val="0F3D70"/>
                    </a:solidFill>
                    <a:latin typeface="Inter"/>
                    <a:ea typeface="Inter"/>
                    <a:cs typeface="Inter"/>
                    <a:sym typeface="Inter"/>
                  </a:rPr>
                  <a:t>98.6% Default Capture Rate</a:t>
                </a:r>
                <a:endParaRPr sz="1203" b="1" dirty="0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900"/>
                  </a:spcAft>
                  <a:buNone/>
                </a:pPr>
                <a:r>
                  <a:rPr lang="en" sz="971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Targeting the top 2 deciles (Deciles 9 &amp; 8) successfully captures approximately </a:t>
                </a:r>
                <a:r>
                  <a:rPr lang="en" sz="971" b="1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98.6%</a:t>
                </a:r>
                <a:r>
                  <a:rPr lang="en" sz="971" b="0" dirty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of all actual defaulters, enabling highly concentrated risk mitigation.</a:t>
                </a:r>
                <a:endParaRPr sz="971" b="0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4" name="Google Shape;324;p21"/>
            <p:cNvGrpSpPr/>
            <p:nvPr/>
          </p:nvGrpSpPr>
          <p:grpSpPr>
            <a:xfrm>
              <a:off x="0" y="2476500"/>
              <a:ext cx="4095900" cy="1143000"/>
              <a:chOff x="0" y="0"/>
              <a:chExt cx="4095900" cy="1143000"/>
            </a:xfrm>
          </p:grpSpPr>
          <p:sp>
            <p:nvSpPr>
              <p:cNvPr id="325" name="Google Shape;325;p21"/>
              <p:cNvSpPr/>
              <p:nvPr/>
            </p:nvSpPr>
            <p:spPr>
              <a:xfrm>
                <a:off x="0" y="0"/>
                <a:ext cx="4095900" cy="1143000"/>
              </a:xfrm>
              <a:prstGeom prst="roundRect">
                <a:avLst>
                  <a:gd name="adj" fmla="val 6666"/>
                </a:avLst>
              </a:prstGeom>
              <a:solidFill>
                <a:srgbClr val="F4F7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0" y="0"/>
                <a:ext cx="40959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1"/>
              <p:cNvSpPr txBox="1"/>
              <p:nvPr/>
            </p:nvSpPr>
            <p:spPr>
              <a:xfrm>
                <a:off x="190500" y="152400"/>
                <a:ext cx="37149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33" b="0" dirty="0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OPERATIONAL RECOMMENDATION</a:t>
                </a:r>
                <a:endParaRPr sz="833" b="0" dirty="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3" b="1" dirty="0">
                    <a:solidFill>
                      <a:srgbClr val="0F3D70"/>
                    </a:solidFill>
                    <a:latin typeface="Inter"/>
                    <a:ea typeface="Inter"/>
                    <a:cs typeface="Inter"/>
                    <a:sym typeface="Inter"/>
                  </a:rPr>
                  <a:t>Optimal Probability Cutoff</a:t>
                </a:r>
                <a:endParaRPr sz="1203" b="1" dirty="0">
                  <a:solidFill>
                    <a:srgbClr val="0F3D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900"/>
                  </a:spcAft>
                  <a:buNone/>
                </a:pPr>
                <a:r>
                  <a:rPr lang="en" sz="971" b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Setting a probability threshold at </a:t>
                </a:r>
                <a:r>
                  <a:rPr lang="en" sz="971" b="1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0.218</a:t>
                </a:r>
                <a:r>
                  <a:rPr lang="en" sz="971" b="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(Decile 8 cutoff) optimizes automated screening, balancing risk exposure and decisioning automation.</a:t>
                </a:r>
                <a:endParaRPr sz="971" b="0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33" name="Google Shape;333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381000" y="0"/>
              <a:ext cx="1143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5" name="Google Shape;335;p22"/>
            <p:cNvGrpSpPr/>
            <p:nvPr/>
          </p:nvGrpSpPr>
          <p:grpSpPr>
            <a:xfrm>
              <a:off x="7239000" y="285750"/>
              <a:ext cx="1733700" cy="247650"/>
              <a:chOff x="0" y="0"/>
              <a:chExt cx="1733700" cy="247650"/>
            </a:xfrm>
          </p:grpSpPr>
          <p:sp>
            <p:nvSpPr>
              <p:cNvPr id="336" name="Google Shape;336;p22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F3D7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2"/>
              <p:cNvSpPr/>
              <p:nvPr/>
            </p:nvSpPr>
            <p:spPr>
              <a:xfrm>
                <a:off x="57150" y="57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2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>
                    <a:solidFill>
                      <a:srgbClr val="0F3D70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LAUKI </a:t>
                </a:r>
                <a:r>
                  <a:rPr lang="en" sz="1400" b="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FINANCE</a:t>
                </a:r>
                <a:endParaRPr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sp>
          <p:nvSpPr>
            <p:cNvPr id="339" name="Google Shape;339;p22"/>
            <p:cNvSpPr/>
            <p:nvPr/>
          </p:nvSpPr>
          <p:spPr>
            <a:xfrm>
              <a:off x="4476750" y="1047750"/>
              <a:ext cx="9600" cy="37149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22"/>
          <p:cNvSpPr txBox="1"/>
          <p:nvPr/>
        </p:nvSpPr>
        <p:spPr>
          <a:xfrm>
            <a:off x="381000" y="30480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Summary Metrics &amp; ROC Curve</a:t>
            </a:r>
            <a:endParaRPr sz="260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381000" y="1047750"/>
            <a:ext cx="38100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3" b="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Final Model AUC</a:t>
            </a:r>
            <a:endParaRPr sz="833" b="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600"/>
              </a:spcAft>
              <a:buNone/>
            </a:pPr>
            <a:r>
              <a:rPr lang="en" sz="3330" b="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98%</a:t>
            </a:r>
            <a:endParaRPr sz="3330" b="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381000" y="1857375"/>
            <a:ext cx="3905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381000" y="2000250"/>
            <a:ext cx="38100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3" b="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Final Model Gini Coefficient</a:t>
            </a:r>
            <a:endParaRPr sz="833" b="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600"/>
              </a:spcAft>
              <a:buNone/>
            </a:pPr>
            <a:r>
              <a:rPr lang="en" sz="3330" b="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96%</a:t>
            </a:r>
            <a:endParaRPr sz="3330" b="0">
              <a:solidFill>
                <a:srgbClr val="2563E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44" name="Google Shape;344;p22"/>
          <p:cNvGrpSpPr/>
          <p:nvPr/>
        </p:nvGrpSpPr>
        <p:grpSpPr>
          <a:xfrm>
            <a:off x="381000" y="2952750"/>
            <a:ext cx="3905400" cy="1714500"/>
            <a:chOff x="0" y="0"/>
            <a:chExt cx="3905400" cy="1714500"/>
          </a:xfrm>
        </p:grpSpPr>
        <p:sp>
          <p:nvSpPr>
            <p:cNvPr id="345" name="Google Shape;345;p22"/>
            <p:cNvSpPr/>
            <p:nvPr/>
          </p:nvSpPr>
          <p:spPr>
            <a:xfrm>
              <a:off x="0" y="0"/>
              <a:ext cx="3905400" cy="1714500"/>
            </a:xfrm>
            <a:prstGeom prst="roundRect">
              <a:avLst>
                <a:gd name="adj" fmla="val 4444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 txBox="1"/>
            <p:nvPr/>
          </p:nvSpPr>
          <p:spPr>
            <a:xfrm>
              <a:off x="228600" y="190500"/>
              <a:ext cx="3448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3C5F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Top 3 Deciles Default Capture Rate</a:t>
              </a:r>
              <a:endParaRPr sz="900" b="0">
                <a:solidFill>
                  <a:srgbClr val="93C5F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3800" b="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99.53%</a:t>
              </a:r>
              <a:endParaRPr sz="3800" b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000" b="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Effectively capturing nearly all bad loans before manual intervention.</a:t>
              </a:r>
              <a:endParaRPr sz="1000" b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47" name="Google Shape;347;p22"/>
          <p:cNvPicPr preferRelativeResize="0"/>
          <p:nvPr/>
        </p:nvPicPr>
        <p:blipFill rotWithShape="1">
          <a:blip r:embed="rId3">
            <a:alphaModFix/>
          </a:blip>
          <a:srcRect t="40" b="40"/>
          <a:stretch/>
        </p:blipFill>
        <p:spPr>
          <a:xfrm>
            <a:off x="4714875" y="1047750"/>
            <a:ext cx="404820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53" name="Google Shape;353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3"/>
            <p:cNvSpPr/>
            <p:nvPr/>
          </p:nvSpPr>
          <p:spPr>
            <a:xfrm>
              <a:off x="381000" y="0"/>
              <a:ext cx="1143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5" name="Google Shape;355;p23"/>
            <p:cNvGrpSpPr/>
            <p:nvPr/>
          </p:nvGrpSpPr>
          <p:grpSpPr>
            <a:xfrm>
              <a:off x="7000875" y="285750"/>
              <a:ext cx="1733700" cy="247650"/>
              <a:chOff x="0" y="0"/>
              <a:chExt cx="1733700" cy="247650"/>
            </a:xfrm>
          </p:grpSpPr>
          <p:sp>
            <p:nvSpPr>
              <p:cNvPr id="356" name="Google Shape;356;p23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F3D7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3"/>
              <p:cNvSpPr/>
              <p:nvPr/>
            </p:nvSpPr>
            <p:spPr>
              <a:xfrm>
                <a:off x="57150" y="57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3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>
                    <a:solidFill>
                      <a:srgbClr val="0F3D70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LAUKI </a:t>
                </a:r>
                <a:r>
                  <a:rPr lang="en" sz="1400" b="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FINANCE</a:t>
                </a:r>
                <a:endParaRPr sz="1400" b="0">
                  <a:solidFill>
                    <a:srgbClr val="0F3D70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  <p:sp>
        <p:nvSpPr>
          <p:cNvPr id="359" name="Google Shape;359;p23"/>
          <p:cNvSpPr txBox="1"/>
          <p:nvPr/>
        </p:nvSpPr>
        <p:spPr>
          <a:xfrm>
            <a:off x="381000" y="342900"/>
            <a:ext cx="6381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0" b="1">
                <a:solidFill>
                  <a:srgbClr val="0F3D70"/>
                </a:solidFill>
                <a:latin typeface="Inter"/>
                <a:ea typeface="Inter"/>
                <a:cs typeface="Inter"/>
                <a:sym typeface="Inter"/>
              </a:rPr>
              <a:t>Strategic Recommendations &amp; Growth Opportunities</a:t>
            </a:r>
            <a:endParaRPr sz="1820" b="1">
              <a:solidFill>
                <a:srgbClr val="0F3D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381000" y="1095375"/>
            <a:ext cx="4000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9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RECOMMENDATIONS</a:t>
            </a:r>
            <a:endParaRPr sz="900" b="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61" name="Google Shape;361;p23"/>
          <p:cNvGrpSpPr/>
          <p:nvPr/>
        </p:nvGrpSpPr>
        <p:grpSpPr>
          <a:xfrm>
            <a:off x="381000" y="1333500"/>
            <a:ext cx="4000500" cy="904800"/>
            <a:chOff x="0" y="0"/>
            <a:chExt cx="4000500" cy="904800"/>
          </a:xfrm>
        </p:grpSpPr>
        <p:sp>
          <p:nvSpPr>
            <p:cNvPr id="362" name="Google Shape;362;p23"/>
            <p:cNvSpPr/>
            <p:nvPr/>
          </p:nvSpPr>
          <p:spPr>
            <a:xfrm>
              <a:off x="0" y="0"/>
              <a:ext cx="4000500" cy="904800"/>
            </a:xfrm>
            <a:prstGeom prst="roundRect">
              <a:avLst>
                <a:gd name="adj" fmla="val 8421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0" y="0"/>
              <a:ext cx="38100" cy="904800"/>
            </a:xfrm>
            <a:prstGeom prst="roundRect">
              <a:avLst>
                <a:gd name="adj" fmla="val 50000"/>
              </a:avLst>
            </a:prstGeom>
            <a:solidFill>
              <a:srgbClr val="0F3D7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3"/>
            <p:cNvSpPr txBox="1"/>
            <p:nvPr/>
          </p:nvSpPr>
          <p:spPr>
            <a:xfrm>
              <a:off x="190500" y="152400"/>
              <a:ext cx="3619500" cy="6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0F3D7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Model Threshold Tuning</a:t>
              </a:r>
              <a:endParaRPr sz="1300" b="0">
                <a:solidFill>
                  <a:srgbClr val="0F3D7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lang="en" sz="10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Optimize cut-off points to balance risk acceptance with growth targets and dynamic portfolio performance.</a:t>
              </a:r>
              <a:endParaRPr sz="10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5" name="Google Shape;365;p23"/>
          <p:cNvGrpSpPr/>
          <p:nvPr/>
        </p:nvGrpSpPr>
        <p:grpSpPr>
          <a:xfrm>
            <a:off x="381000" y="2381250"/>
            <a:ext cx="4000500" cy="904800"/>
            <a:chOff x="0" y="0"/>
            <a:chExt cx="4000500" cy="904800"/>
          </a:xfrm>
        </p:grpSpPr>
        <p:sp>
          <p:nvSpPr>
            <p:cNvPr id="366" name="Google Shape;366;p23"/>
            <p:cNvSpPr/>
            <p:nvPr/>
          </p:nvSpPr>
          <p:spPr>
            <a:xfrm>
              <a:off x="0" y="0"/>
              <a:ext cx="4000500" cy="904800"/>
            </a:xfrm>
            <a:prstGeom prst="roundRect">
              <a:avLst>
                <a:gd name="adj" fmla="val 8421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3"/>
            <p:cNvSpPr/>
            <p:nvPr/>
          </p:nvSpPr>
          <p:spPr>
            <a:xfrm>
              <a:off x="0" y="0"/>
              <a:ext cx="38100" cy="904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3"/>
            <p:cNvSpPr txBox="1"/>
            <p:nvPr/>
          </p:nvSpPr>
          <p:spPr>
            <a:xfrm>
              <a:off x="190500" y="152400"/>
              <a:ext cx="3619500" cy="6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0F3D7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Operational Integration</a:t>
              </a:r>
              <a:endParaRPr sz="1300" b="0">
                <a:solidFill>
                  <a:srgbClr val="0F3D7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lang="en" sz="10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Embed automated scoring seamlessly into existing credit decision workflows and infrastructure.</a:t>
              </a:r>
              <a:endParaRPr sz="10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9" name="Google Shape;369;p23"/>
          <p:cNvGrpSpPr/>
          <p:nvPr/>
        </p:nvGrpSpPr>
        <p:grpSpPr>
          <a:xfrm>
            <a:off x="381000" y="3429000"/>
            <a:ext cx="4000500" cy="904800"/>
            <a:chOff x="0" y="0"/>
            <a:chExt cx="4000500" cy="904800"/>
          </a:xfrm>
        </p:grpSpPr>
        <p:sp>
          <p:nvSpPr>
            <p:cNvPr id="370" name="Google Shape;370;p23"/>
            <p:cNvSpPr/>
            <p:nvPr/>
          </p:nvSpPr>
          <p:spPr>
            <a:xfrm>
              <a:off x="0" y="0"/>
              <a:ext cx="4000500" cy="904800"/>
            </a:xfrm>
            <a:prstGeom prst="roundRect">
              <a:avLst>
                <a:gd name="adj" fmla="val 8421"/>
              </a:avLst>
            </a:prstGeom>
            <a:solidFill>
              <a:srgbClr val="F4F7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0" y="0"/>
              <a:ext cx="38100" cy="9048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3"/>
            <p:cNvSpPr txBox="1"/>
            <p:nvPr/>
          </p:nvSpPr>
          <p:spPr>
            <a:xfrm>
              <a:off x="190500" y="152400"/>
              <a:ext cx="3619500" cy="6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0F3D7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Compliance &amp; Governance</a:t>
              </a:r>
              <a:endParaRPr sz="1300" b="0">
                <a:solidFill>
                  <a:srgbClr val="0F3D7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lang="en" sz="1000" b="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Enforce strict adherence to regulatory rules, fair lending requirements, and model governance standards.</a:t>
              </a:r>
              <a:endParaRPr sz="1000" b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3" name="Google Shape;373;p23"/>
          <p:cNvSpPr/>
          <p:nvPr/>
        </p:nvSpPr>
        <p:spPr>
          <a:xfrm>
            <a:off x="4667250" y="1143000"/>
            <a:ext cx="9600" cy="3333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4" name="Google Shape;374;p23"/>
          <p:cNvGrpSpPr/>
          <p:nvPr/>
        </p:nvGrpSpPr>
        <p:grpSpPr>
          <a:xfrm>
            <a:off x="4953000" y="1095375"/>
            <a:ext cx="3810000" cy="3238425"/>
            <a:chOff x="0" y="0"/>
            <a:chExt cx="3810000" cy="3238425"/>
          </a:xfrm>
        </p:grpSpPr>
        <p:sp>
          <p:nvSpPr>
            <p:cNvPr id="375" name="Google Shape;375;p23"/>
            <p:cNvSpPr txBox="1"/>
            <p:nvPr/>
          </p:nvSpPr>
          <p:spPr>
            <a:xfrm>
              <a:off x="0" y="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9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EXECUTIVE CLOSING</a:t>
              </a:r>
              <a:endParaRPr sz="9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76" name="Google Shape;376;p23"/>
            <p:cNvGrpSpPr/>
            <p:nvPr/>
          </p:nvGrpSpPr>
          <p:grpSpPr>
            <a:xfrm>
              <a:off x="0" y="238125"/>
              <a:ext cx="3810000" cy="3000300"/>
              <a:chOff x="0" y="0"/>
              <a:chExt cx="3810000" cy="3000300"/>
            </a:xfrm>
          </p:grpSpPr>
          <p:sp>
            <p:nvSpPr>
              <p:cNvPr id="377" name="Google Shape;377;p23"/>
              <p:cNvSpPr/>
              <p:nvPr/>
            </p:nvSpPr>
            <p:spPr>
              <a:xfrm>
                <a:off x="0" y="0"/>
                <a:ext cx="3810000" cy="3000300"/>
              </a:xfrm>
              <a:prstGeom prst="roundRect">
                <a:avLst>
                  <a:gd name="adj" fmla="val 2539"/>
                </a:avLst>
              </a:prstGeom>
              <a:solidFill>
                <a:srgbClr val="0F3D7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3"/>
              <p:cNvSpPr/>
              <p:nvPr/>
            </p:nvSpPr>
            <p:spPr>
              <a:xfrm>
                <a:off x="3048000" y="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1E4E8C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3"/>
              <p:cNvSpPr txBox="1"/>
              <p:nvPr/>
            </p:nvSpPr>
            <p:spPr>
              <a:xfrm>
                <a:off x="285750" y="285750"/>
                <a:ext cx="3238500" cy="24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93C5F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INTERACTIVE DISCUSSION</a:t>
                </a:r>
                <a:endParaRPr sz="900" b="0">
                  <a:solidFill>
                    <a:srgbClr val="93C5F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24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Open Floor for Q&amp;A</a:t>
                </a:r>
                <a:endParaRPr sz="24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" sz="1100" b="0">
                    <a:solidFill>
                      <a:srgbClr val="E2E8F0"/>
                    </a:solidFill>
                    <a:latin typeface="Inter Light"/>
                    <a:ea typeface="Inter Light"/>
                    <a:cs typeface="Inter Light"/>
                    <a:sym typeface="Inter Light"/>
                  </a:rPr>
                  <a:t>Addressing stakeholder questions regarding critical decision drivers and operational readiness:</a:t>
                </a:r>
                <a:endParaRPr sz="1100" b="0">
                  <a:solidFill>
                    <a:srgbClr val="E2E8F0"/>
                  </a:solidFill>
                  <a:latin typeface="Inter Light"/>
                  <a:ea typeface="Inter Light"/>
                  <a:cs typeface="Inter Light"/>
                  <a:sym typeface="Inter Light"/>
                </a:endParaRPr>
              </a:p>
              <a:p>
                <a:pPr marL="0" lvl="0" indent="0" algn="l" rtl="0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en" sz="1050" b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Threshold tuning and calibration</a:t>
                </a:r>
                <a:endParaRPr/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1050" b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Operational integration timelines</a:t>
                </a:r>
                <a:endParaRPr/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1050" b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Compliance rules and governance frameworks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956</Words>
  <Application>Microsoft Office PowerPoint</Application>
  <PresentationFormat>On-screen Show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</vt:lpstr>
      <vt:lpstr>Inter Medium</vt:lpstr>
      <vt:lpstr>Inter SemiBold</vt:lpstr>
      <vt:lpstr>Inter Light</vt:lpstr>
      <vt:lpstr>Arial</vt:lpstr>
      <vt:lpstr>Inter ExtraBold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Srijit Sengupta</cp:lastModifiedBy>
  <cp:revision>3</cp:revision>
  <dcterms:modified xsi:type="dcterms:W3CDTF">2026-09-29T06:47:22Z</dcterms:modified>
</cp:coreProperties>
</file>